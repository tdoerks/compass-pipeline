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itol.embl.de/upload.cgi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mailto:tdoerks@vet.k-state.edu" TargetMode="External"/><Relationship Id="rId2" Type="http://schemas.openxmlformats.org/officeDocument/2006/relationships/hyperlink" Target="https://github.com/tdoerks/COMPASS-pipeline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75021"/>
            <a:ext cx="1106801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chemeClr val="bg1"/>
                </a:solidFill>
              </a:rPr>
              <a:t>COMPASS</a:t>
            </a:r>
            <a:r>
              <a:rPr sz="2600" b="1" dirty="0">
                <a:solidFill>
                  <a:srgbClr val="E6EBF0"/>
                </a:solidFill>
              </a:rPr>
              <a:t> — </a:t>
            </a:r>
            <a:r>
              <a:rPr sz="2600" b="1" dirty="0" err="1">
                <a:solidFill>
                  <a:srgbClr val="E6EBF0"/>
                </a:solidFill>
              </a:rPr>
              <a:t>COmprehensive</a:t>
            </a:r>
            <a:r>
              <a:rPr sz="2600" b="1" dirty="0">
                <a:solidFill>
                  <a:srgbClr val="E6EBF0"/>
                </a:solidFill>
              </a:rPr>
              <a:t> Mobile element &amp; Pathogen </a:t>
            </a:r>
            <a:r>
              <a:rPr sz="2600" b="1" dirty="0" err="1">
                <a:solidFill>
                  <a:srgbClr val="E6EBF0"/>
                </a:solidFill>
              </a:rPr>
              <a:t>ASsessment</a:t>
            </a:r>
            <a:r>
              <a:rPr sz="2600" b="1" dirty="0">
                <a:solidFill>
                  <a:srgbClr val="E6EBF0"/>
                </a:solidFill>
              </a:rPr>
              <a:t>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>
                <a:solidFill>
                  <a:srgbClr val="E6EBF0"/>
                </a:solidFill>
              </a:rPr>
              <a:t>An integrated </a:t>
            </a:r>
            <a:r>
              <a:rPr sz="2200" dirty="0" err="1">
                <a:solidFill>
                  <a:srgbClr val="E6EBF0"/>
                </a:solidFill>
              </a:rPr>
              <a:t>Nextflow</a:t>
            </a:r>
            <a:r>
              <a:rPr sz="2200" dirty="0">
                <a:solidFill>
                  <a:srgbClr val="E6EBF0"/>
                </a:solidFill>
              </a:rPr>
              <a:t> workflow for bacterial WGS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>
                <a:solidFill>
                  <a:srgbClr val="E6EBF0"/>
                </a:solidFill>
              </a:rPr>
              <a:t>Tyler Doerksen · Kansas State CVM ·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904" y="201985"/>
            <a:ext cx="1484513" cy="1484513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AutoNum type="arabicPeriod" startAt="3"/>
            </a:pPr>
            <a:r>
              <a:rPr dirty="0">
                <a:solidFill>
                  <a:schemeClr val="bg1"/>
                </a:solidFill>
              </a:rPr>
              <a:t>E. coli temporal study (2021-2024)</a:t>
            </a:r>
          </a:p>
          <a:p>
            <a:pPr marL="457200" lvl="0" indent="-457200">
              <a:buAutoNum type="arabicPeriod" startAt="3"/>
            </a:pPr>
            <a:r>
              <a:rPr dirty="0">
                <a:solidFill>
                  <a:schemeClr val="bg1"/>
                </a:solidFill>
              </a:rPr>
              <a:t>Phylogenetic analysis technical details</a:t>
            </a:r>
          </a:p>
          <a:p>
            <a:pPr marL="457200" lvl="0" indent="-457200">
              <a:buAutoNum type="arabicPeriod" startAt="3"/>
            </a:pPr>
            <a:r>
              <a:rPr dirty="0">
                <a:solidFill>
                  <a:schemeClr val="bg1"/>
                </a:solidFill>
              </a:rPr>
              <a:t>Statistical validation &amp; quality control</a:t>
            </a:r>
          </a:p>
          <a:p>
            <a:pPr marL="457200" lvl="0" indent="-457200">
              <a:buAutoNum type="arabicPeriod" startAt="3"/>
            </a:pPr>
            <a:r>
              <a:rPr dirty="0">
                <a:solidFill>
                  <a:schemeClr val="bg1"/>
                </a:solidFill>
              </a:rPr>
              <a:t>Computational performance benchmarks</a:t>
            </a:r>
          </a:p>
          <a:p>
            <a:pPr marL="457200" lvl="0" indent="-457200">
              <a:buAutoNum type="arabicPeriod" startAt="3"/>
            </a:pPr>
            <a:r>
              <a:rPr dirty="0">
                <a:solidFill>
                  <a:schemeClr val="bg1"/>
                </a:solidFill>
              </a:rPr>
              <a:t>Challenges &amp; solutions</a:t>
            </a:r>
          </a:p>
          <a:p>
            <a:pPr marL="457200" lvl="0" indent="-457200">
              <a:buAutoNum type="arabicPeriod" startAt="3"/>
            </a:pPr>
            <a:r>
              <a:rPr dirty="0">
                <a:solidFill>
                  <a:schemeClr val="bg1"/>
                </a:solidFill>
              </a:rPr>
              <a:t>Next steps &amp; collaboration opportunities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Duration</a:t>
            </a:r>
            <a:r>
              <a:rPr dirty="0">
                <a:solidFill>
                  <a:schemeClr val="bg1"/>
                </a:solidFill>
              </a:rPr>
              <a:t>: ~45-50 minutes +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4552"/>
            <a:ext cx="11322996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COMPASS Pipeline -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7552"/>
            <a:ext cx="10875523" cy="5245809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Workflow Manager: </a:t>
            </a:r>
            <a:r>
              <a:rPr b="1" dirty="0" err="1">
                <a:solidFill>
                  <a:schemeClr val="bg1"/>
                </a:solidFill>
              </a:rPr>
              <a:t>Nextflow</a:t>
            </a:r>
            <a:r>
              <a:rPr b="1" dirty="0">
                <a:solidFill>
                  <a:schemeClr val="bg1"/>
                </a:solidFill>
              </a:rPr>
              <a:t> DSL2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Why </a:t>
            </a:r>
            <a:r>
              <a:rPr b="1" dirty="0" err="1">
                <a:solidFill>
                  <a:schemeClr val="bg1"/>
                </a:solidFill>
              </a:rPr>
              <a:t>Nextflow</a:t>
            </a:r>
            <a:r>
              <a:rPr b="1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Portable (Docker/Singularity containers)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Resumable (caching of completed tasks)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Scalable (local, HPC, cloud)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Reproducible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Container Strategy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All tools containerized (Singularity on HPC)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Base images: </a:t>
            </a:r>
            <a:r>
              <a:rPr dirty="0" err="1">
                <a:solidFill>
                  <a:schemeClr val="bg1"/>
                </a:solidFill>
              </a:rPr>
              <a:t>BioContainers</a:t>
            </a:r>
            <a:r>
              <a:rPr dirty="0">
                <a:solidFill>
                  <a:schemeClr val="bg1"/>
                </a:solidFill>
              </a:rPr>
              <a:t> from Quay.io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Custom containers for COMPASS-specific scripts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Resource Management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Dynamic resource allocation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Process-specific CPU/memory requests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Automatic retry on failure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Parallel execution where possible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099260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Pipeline Diagram (Technical Version)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49" y="1264596"/>
            <a:ext cx="11342451" cy="5313902"/>
          </a:xfrm>
        </p:spPr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Modules &amp; Dependencies</a:t>
            </a:r>
          </a:p>
          <a:p>
            <a:pPr lvl="0" indent="0">
              <a:buNone/>
            </a:pPr>
            <a:r>
              <a:rPr dirty="0">
                <a:solidFill>
                  <a:schemeClr val="bg1"/>
                </a:solidFill>
                <a:latin typeface="Courier"/>
              </a:rPr>
              <a:t>CHECK_DATABASES
├── </a:t>
            </a:r>
            <a:r>
              <a:rPr dirty="0" err="1">
                <a:solidFill>
                  <a:schemeClr val="bg1"/>
                </a:solidFill>
                <a:latin typeface="Courier"/>
              </a:rPr>
              <a:t>AMRFinder</a:t>
            </a:r>
            <a:r>
              <a:rPr dirty="0">
                <a:solidFill>
                  <a:schemeClr val="bg1"/>
                </a:solidFill>
                <a:latin typeface="Courier"/>
              </a:rPr>
              <a:t> database
├── BUSCO lineage datasets
└── Prophage database (DIAMOND)
DOWNLOAD_SRA → FASTQC → FASTP
└── ASSEMBLE_SPADES
    ├── QUAST
    ├── BUSCO
    ├── AMRFINDER
    ├── ABRICATE (5 databases)
    ├── VIBRANT → PHANOTATE
    ├── MLST
    └── MOBSUITE_RECON
ALL → MULTIQC</a:t>
            </a:r>
            <a:endParaRPr lang="en-US" dirty="0">
              <a:solidFill>
                <a:schemeClr val="bg1"/>
              </a:solidFill>
              <a:latin typeface="Courier"/>
            </a:endParaRPr>
          </a:p>
          <a:p>
            <a:pPr lvl="0" indent="0">
              <a:buNone/>
            </a:pPr>
            <a:r>
              <a:rPr lang="en-US" dirty="0">
                <a:solidFill>
                  <a:schemeClr val="bg1"/>
                </a:solidFill>
                <a:latin typeface="Courier"/>
              </a:rPr>
              <a:t>ALL → COMPASS SUMMARY</a:t>
            </a:r>
            <a:endParaRPr dirty="0">
              <a:solidFill>
                <a:schemeClr val="bg1"/>
              </a:solidFill>
              <a:latin typeface="Courier"/>
            </a:endParaRPr>
          </a:p>
          <a:p>
            <a:pPr marL="0" lvl="0" indent="0">
              <a:spcBef>
                <a:spcPts val="3000"/>
              </a:spcBef>
              <a:buNone/>
            </a:pP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342451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Data Acquisition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10836613" cy="5265264"/>
          </a:xfrm>
        </p:spPr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SRA Download (</a:t>
            </a:r>
            <a:r>
              <a:rPr b="1" dirty="0" err="1">
                <a:solidFill>
                  <a:schemeClr val="bg1"/>
                </a:solidFill>
              </a:rPr>
              <a:t>fasterq</a:t>
            </a:r>
            <a:r>
              <a:rPr b="1" dirty="0">
                <a:solidFill>
                  <a:schemeClr val="bg1"/>
                </a:solidFill>
              </a:rPr>
              <a:t>-dump)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Tool</a:t>
            </a:r>
            <a:r>
              <a:rPr dirty="0">
                <a:solidFill>
                  <a:schemeClr val="bg1"/>
                </a:solidFill>
              </a:rPr>
              <a:t>: SRA Toolkit 3.0+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Settings</a:t>
            </a:r>
            <a:r>
              <a:rPr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dirty="0">
                <a:solidFill>
                  <a:schemeClr val="bg1"/>
                </a:solidFill>
                <a:latin typeface="Courier"/>
              </a:rPr>
              <a:t>--split-files</a:t>
            </a:r>
            <a:r>
              <a:rPr dirty="0">
                <a:solidFill>
                  <a:schemeClr val="bg1"/>
                </a:solidFill>
              </a:rPr>
              <a:t>: Separate R1/R2</a:t>
            </a:r>
          </a:p>
          <a:p>
            <a:pPr lvl="1"/>
            <a:r>
              <a:rPr dirty="0">
                <a:solidFill>
                  <a:schemeClr val="bg1"/>
                </a:solidFill>
                <a:latin typeface="Courier"/>
              </a:rPr>
              <a:t>--threads 4</a:t>
            </a:r>
            <a:r>
              <a:rPr dirty="0">
                <a:solidFill>
                  <a:schemeClr val="bg1"/>
                </a:solidFill>
              </a:rPr>
              <a:t>: Parallel download</a:t>
            </a:r>
          </a:p>
          <a:p>
            <a:pPr lvl="1"/>
            <a:r>
              <a:rPr dirty="0">
                <a:solidFill>
                  <a:schemeClr val="bg1"/>
                </a:solidFill>
                <a:latin typeface="Courier"/>
              </a:rPr>
              <a:t>--progress</a:t>
            </a:r>
            <a:r>
              <a:rPr dirty="0">
                <a:solidFill>
                  <a:schemeClr val="bg1"/>
                </a:solidFill>
              </a:rPr>
              <a:t>: Monitor large files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QC: FASTQC 0.11.9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Per-base quality scores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Adapter content detection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GC distribution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Trimming: FASTP 0.23.2</a:t>
            </a:r>
          </a:p>
          <a:p>
            <a:pPr lvl="0" indent="0">
              <a:buNone/>
            </a:pPr>
            <a:r>
              <a:rPr dirty="0" err="1">
                <a:solidFill>
                  <a:schemeClr val="bg1"/>
                </a:solidFill>
                <a:latin typeface="Courier"/>
              </a:rPr>
              <a:t>fastp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--in1 R1.fastq.gz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--in2 R2.fastq.gz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--out1 R1_trimmed.fastq.gz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--out2 R2_trimmed.fastq.gz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detect_adapter_for_pe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qualified_quality_phred</a:t>
            </a:r>
            <a:r>
              <a:rPr dirty="0">
                <a:solidFill>
                  <a:schemeClr val="bg1"/>
                </a:solidFill>
                <a:latin typeface="Courier"/>
              </a:rPr>
              <a:t> 20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length_required</a:t>
            </a:r>
            <a:r>
              <a:rPr dirty="0">
                <a:solidFill>
                  <a:schemeClr val="bg1"/>
                </a:solidFill>
                <a:latin typeface="Courier"/>
              </a:rPr>
              <a:t> 50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--thread 4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--html report.html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18715" cy="1143000"/>
          </a:xfrm>
        </p:spPr>
        <p:txBody>
          <a:bodyPr/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Genome Assembly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32229"/>
            <a:ext cx="10817157" cy="4968571"/>
          </a:xfrm>
        </p:spPr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SPADES 3.15.5 (–isolate mode)</a:t>
            </a:r>
          </a:p>
          <a:p>
            <a:pPr lvl="0" indent="0">
              <a:buNone/>
            </a:pPr>
            <a:r>
              <a:rPr dirty="0">
                <a:solidFill>
                  <a:schemeClr val="bg1"/>
                </a:solidFill>
                <a:latin typeface="Courier"/>
              </a:rPr>
              <a:t>spades.py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--isolate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-1 R1_trimmed.fastq.gz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-2 R2_trimmed.fastq.gz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-o </a:t>
            </a:r>
            <a:r>
              <a:rPr dirty="0" err="1">
                <a:solidFill>
                  <a:schemeClr val="bg1"/>
                </a:solidFill>
                <a:latin typeface="Courier"/>
              </a:rPr>
              <a:t>assembly_dir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--threads 8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--memory 16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Why –isolate?</a:t>
            </a:r>
            <a:r>
              <a:rPr dirty="0">
                <a:solidFill>
                  <a:schemeClr val="bg1"/>
                </a:solidFill>
              </a:rPr>
              <a:t> - Optimized for bacterial isolates (not metagenomes) - More conservative error correction - Better contig quality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QUAST 5.2.0 (Assembly QC)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N50, L50 metrics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Number of contigs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Total assembly length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Largest contig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Genome fraction coverage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BUSCO 5.4.7 (Completeness)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Lineages</a:t>
            </a:r>
            <a:r>
              <a:rPr dirty="0">
                <a:solidFill>
                  <a:schemeClr val="bg1"/>
                </a:solidFill>
              </a:rPr>
              <a:t>: bacteria_odb10, enterobacterales_odb10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Metrics</a:t>
            </a:r>
            <a:r>
              <a:rPr dirty="0">
                <a:solidFill>
                  <a:schemeClr val="bg1"/>
                </a:solidFill>
              </a:rPr>
              <a:t>: Complete, Fragmented, Missing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Threshold</a:t>
            </a:r>
            <a:r>
              <a:rPr dirty="0">
                <a:solidFill>
                  <a:schemeClr val="bg1"/>
                </a:solidFill>
              </a:rPr>
              <a:t>: &gt;95% complete for high-quality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293813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AMR Detection - Dual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84051"/>
            <a:ext cx="11128444" cy="5299311"/>
          </a:xfrm>
        </p:spPr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Strategy 1: </a:t>
            </a:r>
            <a:r>
              <a:rPr b="1" dirty="0" err="1">
                <a:solidFill>
                  <a:schemeClr val="bg1"/>
                </a:solidFill>
              </a:rPr>
              <a:t>AMRFinder</a:t>
            </a:r>
            <a:r>
              <a:rPr b="1" dirty="0">
                <a:solidFill>
                  <a:schemeClr val="bg1"/>
                </a:solidFill>
              </a:rPr>
              <a:t> Plus 3.11</a:t>
            </a:r>
          </a:p>
          <a:p>
            <a:pPr lvl="0" indent="0">
              <a:buNone/>
            </a:pPr>
            <a:r>
              <a:rPr dirty="0" err="1">
                <a:solidFill>
                  <a:schemeClr val="bg1"/>
                </a:solidFill>
                <a:latin typeface="Courier"/>
              </a:rPr>
              <a:t>amrfinder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--nucleotide </a:t>
            </a:r>
            <a:r>
              <a:rPr dirty="0" err="1">
                <a:solidFill>
                  <a:schemeClr val="bg1"/>
                </a:solidFill>
                <a:latin typeface="Courier"/>
              </a:rPr>
              <a:t>assembly.fasta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--organism Escherichia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--plus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--output </a:t>
            </a:r>
            <a:r>
              <a:rPr dirty="0" err="1">
                <a:solidFill>
                  <a:schemeClr val="bg1"/>
                </a:solidFill>
                <a:latin typeface="Courier"/>
              </a:rPr>
              <a:t>amrfinder.tsv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--threads 4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Advantages</a:t>
            </a:r>
            <a:r>
              <a:rPr dirty="0">
                <a:solidFill>
                  <a:schemeClr val="bg1"/>
                </a:solidFill>
              </a:rPr>
              <a:t>: - NCBI-curated, regularly updated - Organism-specific thresholds - Includes point mutations - Plus mode: virulence, stress response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Strategy 2: ABRICATE 1.0.1 (Multi-database)</a:t>
            </a:r>
          </a:p>
          <a:p>
            <a:pPr lvl="0" indent="0">
              <a:buNone/>
            </a:pPr>
            <a:r>
              <a:rPr b="1" dirty="0">
                <a:solidFill>
                  <a:schemeClr val="bg1"/>
                </a:solidFill>
                <a:latin typeface="Courier"/>
              </a:rPr>
              <a:t>for</a:t>
            </a:r>
            <a:r>
              <a:rPr dirty="0">
                <a:solidFill>
                  <a:schemeClr val="bg1"/>
                </a:solidFill>
                <a:latin typeface="Courier"/>
              </a:rPr>
              <a:t> DB </a:t>
            </a:r>
            <a:r>
              <a:rPr b="1" dirty="0">
                <a:solidFill>
                  <a:schemeClr val="bg1"/>
                </a:solidFill>
                <a:latin typeface="Courier"/>
              </a:rPr>
              <a:t>in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ncbi</a:t>
            </a:r>
            <a:r>
              <a:rPr dirty="0">
                <a:solidFill>
                  <a:schemeClr val="bg1"/>
                </a:solidFill>
                <a:latin typeface="Courier"/>
              </a:rPr>
              <a:t> card </a:t>
            </a:r>
            <a:r>
              <a:rPr dirty="0" err="1">
                <a:solidFill>
                  <a:schemeClr val="bg1"/>
                </a:solidFill>
                <a:latin typeface="Courier"/>
              </a:rPr>
              <a:t>resfinder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argannot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vfdb</a:t>
            </a:r>
            <a:r>
              <a:rPr b="1" dirty="0">
                <a:solidFill>
                  <a:schemeClr val="bg1"/>
                </a:solidFill>
                <a:latin typeface="Courier"/>
              </a:rPr>
              <a:t>;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b="1" dirty="0">
                <a:solidFill>
                  <a:schemeClr val="bg1"/>
                </a:solidFill>
                <a:latin typeface="Courier"/>
              </a:rPr>
              <a:t>do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</a:t>
            </a:r>
            <a:r>
              <a:rPr dirty="0" err="1">
                <a:solidFill>
                  <a:schemeClr val="bg1"/>
                </a:solidFill>
                <a:latin typeface="Courier"/>
              </a:rPr>
              <a:t>abricate</a:t>
            </a:r>
            <a:r>
              <a:rPr dirty="0">
                <a:solidFill>
                  <a:schemeClr val="bg1"/>
                </a:solidFill>
                <a:latin typeface="Courier"/>
              </a:rPr>
              <a:t> --</a:t>
            </a:r>
            <a:r>
              <a:rPr dirty="0" err="1">
                <a:solidFill>
                  <a:schemeClr val="bg1"/>
                </a:solidFill>
                <a:latin typeface="Courier"/>
              </a:rPr>
              <a:t>db</a:t>
            </a:r>
            <a:r>
              <a:rPr dirty="0">
                <a:solidFill>
                  <a:schemeClr val="bg1"/>
                </a:solidFill>
                <a:latin typeface="Courier"/>
              </a:rPr>
              <a:t> $DB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minid</a:t>
            </a:r>
            <a:r>
              <a:rPr dirty="0">
                <a:solidFill>
                  <a:schemeClr val="bg1"/>
                </a:solidFill>
                <a:latin typeface="Courier"/>
              </a:rPr>
              <a:t> 75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mincov</a:t>
            </a:r>
            <a:r>
              <a:rPr dirty="0">
                <a:solidFill>
                  <a:schemeClr val="bg1"/>
                </a:solidFill>
                <a:latin typeface="Courier"/>
              </a:rPr>
              <a:t> 50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assembly.fasta</a:t>
            </a:r>
            <a:r>
              <a:rPr dirty="0">
                <a:solidFill>
                  <a:schemeClr val="bg1"/>
                </a:solidFill>
                <a:latin typeface="Courier"/>
              </a:rPr>
              <a:t> &gt; ${DB}_</a:t>
            </a:r>
            <a:r>
              <a:rPr dirty="0" err="1">
                <a:solidFill>
                  <a:schemeClr val="bg1"/>
                </a:solidFill>
                <a:latin typeface="Courier"/>
              </a:rPr>
              <a:t>results.tab</a:t>
            </a:r>
            <a:br>
              <a:rPr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  <a:latin typeface="Courier"/>
              </a:rPr>
              <a:t>done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Databases</a:t>
            </a:r>
            <a:r>
              <a:rPr dirty="0">
                <a:solidFill>
                  <a:schemeClr val="bg1"/>
                </a:solidFill>
              </a:rPr>
              <a:t>: - NCBI: </a:t>
            </a:r>
            <a:r>
              <a:rPr dirty="0" err="1">
                <a:solidFill>
                  <a:schemeClr val="bg1"/>
                </a:solidFill>
              </a:rPr>
              <a:t>AMRFinderPlus</a:t>
            </a:r>
            <a:r>
              <a:rPr dirty="0">
                <a:solidFill>
                  <a:schemeClr val="bg1"/>
                </a:solidFill>
              </a:rPr>
              <a:t> database - CARD: Comprehensive Antibiotic Resistance - </a:t>
            </a:r>
            <a:r>
              <a:rPr dirty="0" err="1">
                <a:solidFill>
                  <a:schemeClr val="bg1"/>
                </a:solidFill>
              </a:rPr>
              <a:t>ResFinder</a:t>
            </a:r>
            <a:r>
              <a:rPr dirty="0">
                <a:solidFill>
                  <a:schemeClr val="bg1"/>
                </a:solidFill>
              </a:rPr>
              <a:t>: Acquired resistance genes - ARG-ANNOT: Antibiotic Resistance Gene-</a:t>
            </a:r>
            <a:r>
              <a:rPr dirty="0" err="1">
                <a:solidFill>
                  <a:schemeClr val="bg1"/>
                </a:solidFill>
              </a:rPr>
              <a:t>ANNOTation</a:t>
            </a:r>
            <a:r>
              <a:rPr dirty="0">
                <a:solidFill>
                  <a:schemeClr val="bg1"/>
                </a:solidFill>
              </a:rPr>
              <a:t> - VFDB: Virulence Factor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54902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Prophage Analysis - VIBRANT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381362" cy="5165724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VIBRANT 1.2.1 (Machine Learning-based)</a:t>
            </a:r>
          </a:p>
          <a:p>
            <a:pPr lvl="0" indent="0">
              <a:buNone/>
            </a:pPr>
            <a:r>
              <a:rPr dirty="0">
                <a:solidFill>
                  <a:schemeClr val="bg1"/>
                </a:solidFill>
                <a:latin typeface="Courier"/>
              </a:rPr>
              <a:t>VIBRANT_run.py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</a:t>
            </a:r>
            <a:r>
              <a:rPr dirty="0" err="1">
                <a:solidFill>
                  <a:schemeClr val="bg1"/>
                </a:solidFill>
                <a:latin typeface="Courier"/>
              </a:rPr>
              <a:t>i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assembly.fasta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-folder </a:t>
            </a:r>
            <a:r>
              <a:rPr dirty="0" err="1">
                <a:solidFill>
                  <a:schemeClr val="bg1"/>
                </a:solidFill>
                <a:latin typeface="Courier"/>
              </a:rPr>
              <a:t>vibrant_output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-t 4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-virome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-d /databases/</a:t>
            </a:r>
            <a:r>
              <a:rPr dirty="0" err="1">
                <a:solidFill>
                  <a:schemeClr val="bg1"/>
                </a:solidFill>
                <a:latin typeface="Courier"/>
              </a:rPr>
              <a:t>VIBRANT_db</a:t>
            </a:r>
            <a:endParaRPr dirty="0">
              <a:solidFill>
                <a:schemeClr val="bg1"/>
              </a:solidFill>
              <a:latin typeface="Courier"/>
            </a:endParaRPr>
          </a:p>
          <a:p>
            <a:pPr marL="0" lvl="0" indent="0">
              <a:buNone/>
            </a:pPr>
            <a:r>
              <a:rPr b="1" dirty="0">
                <a:solidFill>
                  <a:srgbClr val="FFC000"/>
                </a:solidFill>
              </a:rPr>
              <a:t>How it works</a:t>
            </a:r>
            <a:r>
              <a:rPr dirty="0">
                <a:solidFill>
                  <a:srgbClr val="FFC000"/>
                </a:solidFill>
              </a:rPr>
              <a:t>: - Neural network trained on viral/prophage genomes - Identifies prophage regions in bacterial genomes - Extracts complete prophage sequences - Classifies by lifestyle (lytic vs lysogenic)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Outputs</a:t>
            </a:r>
            <a:r>
              <a:rPr dirty="0">
                <a:solidFill>
                  <a:schemeClr val="bg1"/>
                </a:solidFill>
              </a:rPr>
              <a:t>: - </a:t>
            </a:r>
            <a:r>
              <a:rPr dirty="0">
                <a:solidFill>
                  <a:schemeClr val="bg1"/>
                </a:solidFill>
                <a:latin typeface="Courier"/>
              </a:rPr>
              <a:t>*_</a:t>
            </a:r>
            <a:r>
              <a:rPr dirty="0" err="1">
                <a:solidFill>
                  <a:schemeClr val="bg1"/>
                </a:solidFill>
                <a:latin typeface="Courier"/>
              </a:rPr>
              <a:t>phages.fna</a:t>
            </a:r>
            <a:r>
              <a:rPr dirty="0">
                <a:solidFill>
                  <a:schemeClr val="bg1"/>
                </a:solidFill>
              </a:rPr>
              <a:t>: Predicted prophage sequences - </a:t>
            </a:r>
            <a:r>
              <a:rPr dirty="0">
                <a:solidFill>
                  <a:schemeClr val="bg1"/>
                </a:solidFill>
                <a:latin typeface="Courier"/>
              </a:rPr>
              <a:t>*_</a:t>
            </a:r>
            <a:r>
              <a:rPr dirty="0" err="1">
                <a:solidFill>
                  <a:schemeClr val="bg1"/>
                </a:solidFill>
                <a:latin typeface="Courier"/>
              </a:rPr>
              <a:t>phages.faa</a:t>
            </a:r>
            <a:r>
              <a:rPr dirty="0">
                <a:solidFill>
                  <a:schemeClr val="bg1"/>
                </a:solidFill>
              </a:rPr>
              <a:t>: Translated proteins - </a:t>
            </a:r>
            <a:r>
              <a:rPr dirty="0">
                <a:solidFill>
                  <a:schemeClr val="bg1"/>
                </a:solidFill>
                <a:latin typeface="Courier"/>
              </a:rPr>
              <a:t>*_</a:t>
            </a:r>
            <a:r>
              <a:rPr dirty="0" err="1">
                <a:solidFill>
                  <a:schemeClr val="bg1"/>
                </a:solidFill>
                <a:latin typeface="Courier"/>
              </a:rPr>
              <a:t>annotations.tsv</a:t>
            </a:r>
            <a:r>
              <a:rPr dirty="0">
                <a:solidFill>
                  <a:schemeClr val="bg1"/>
                </a:solidFill>
              </a:rPr>
              <a:t>: Functional predictions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PHANOTATE 1.5.0 (Secondary Annotation)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Optimized gene caller for phages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Better than Prodigal for viral genes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Improves downstream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352179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Prophage-AMR Integration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45174" cy="4907604"/>
          </a:xfrm>
        </p:spPr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Custom Python Module</a:t>
            </a:r>
          </a:p>
          <a:p>
            <a:pPr lvl="0" indent="0">
              <a:buNone/>
            </a:pPr>
            <a:r>
              <a:rPr i="1" dirty="0">
                <a:solidFill>
                  <a:schemeClr val="bg1"/>
                </a:solidFill>
                <a:latin typeface="Courier"/>
              </a:rPr>
              <a:t># Pseudocode</a:t>
            </a:r>
            <a:br>
              <a:rPr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  <a:latin typeface="Courier"/>
              </a:rPr>
              <a:t>for</a:t>
            </a:r>
            <a:r>
              <a:rPr dirty="0">
                <a:solidFill>
                  <a:schemeClr val="bg1"/>
                </a:solidFill>
                <a:latin typeface="Courier"/>
              </a:rPr>
              <a:t> sample </a:t>
            </a:r>
            <a:r>
              <a:rPr b="1" dirty="0">
                <a:solidFill>
                  <a:schemeClr val="bg1"/>
                </a:solidFill>
                <a:latin typeface="Courier"/>
              </a:rPr>
              <a:t>in</a:t>
            </a:r>
            <a:r>
              <a:rPr dirty="0">
                <a:solidFill>
                  <a:schemeClr val="bg1"/>
                </a:solidFill>
                <a:latin typeface="Courier"/>
              </a:rPr>
              <a:t> samples: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Load AMR hits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amr_hits</a:t>
            </a:r>
            <a:r>
              <a:rPr dirty="0">
                <a:solidFill>
                  <a:schemeClr val="bg1"/>
                </a:solidFill>
                <a:latin typeface="Courier"/>
              </a:rPr>
              <a:t> = </a:t>
            </a:r>
            <a:r>
              <a:rPr dirty="0" err="1">
                <a:solidFill>
                  <a:schemeClr val="bg1"/>
                </a:solidFill>
                <a:latin typeface="Courier"/>
              </a:rPr>
              <a:t>parse_amrfinder</a:t>
            </a:r>
            <a:r>
              <a:rPr dirty="0">
                <a:solidFill>
                  <a:schemeClr val="bg1"/>
                </a:solidFill>
                <a:latin typeface="Courier"/>
              </a:rPr>
              <a:t>(</a:t>
            </a:r>
            <a:r>
              <a:rPr dirty="0" err="1">
                <a:solidFill>
                  <a:schemeClr val="bg1"/>
                </a:solidFill>
                <a:latin typeface="Courier"/>
              </a:rPr>
              <a:t>sample.amr_results</a:t>
            </a:r>
            <a:r>
              <a:rPr dirty="0">
                <a:solidFill>
                  <a:schemeClr val="bg1"/>
                </a:solidFill>
                <a:latin typeface="Courier"/>
              </a:rPr>
              <a:t>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Load prophage coordinates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prophages = </a:t>
            </a:r>
            <a:r>
              <a:rPr dirty="0" err="1">
                <a:solidFill>
                  <a:schemeClr val="bg1"/>
                </a:solidFill>
                <a:latin typeface="Courier"/>
              </a:rPr>
              <a:t>parse_vibrant</a:t>
            </a:r>
            <a:r>
              <a:rPr dirty="0">
                <a:solidFill>
                  <a:schemeClr val="bg1"/>
                </a:solidFill>
                <a:latin typeface="Courier"/>
              </a:rPr>
              <a:t>(</a:t>
            </a:r>
            <a:r>
              <a:rPr dirty="0" err="1">
                <a:solidFill>
                  <a:schemeClr val="bg1"/>
                </a:solidFill>
                <a:latin typeface="Courier"/>
              </a:rPr>
              <a:t>sample.vibrant_output</a:t>
            </a:r>
            <a:r>
              <a:rPr dirty="0">
                <a:solidFill>
                  <a:schemeClr val="bg1"/>
                </a:solidFill>
                <a:latin typeface="Courier"/>
              </a:rPr>
              <a:t>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Check overlap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b="1" dirty="0">
                <a:solidFill>
                  <a:schemeClr val="bg1"/>
                </a:solidFill>
                <a:latin typeface="Courier"/>
              </a:rPr>
              <a:t>for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amr_gene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b="1" dirty="0">
                <a:solidFill>
                  <a:schemeClr val="bg1"/>
                </a:solidFill>
                <a:latin typeface="Courier"/>
              </a:rPr>
              <a:t>in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amr_hits</a:t>
            </a:r>
            <a:r>
              <a:rPr dirty="0">
                <a:solidFill>
                  <a:schemeClr val="bg1"/>
                </a:solidFill>
                <a:latin typeface="Courier"/>
              </a:rPr>
              <a:t>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</a:t>
            </a:r>
            <a:r>
              <a:rPr b="1" dirty="0">
                <a:solidFill>
                  <a:schemeClr val="bg1"/>
                </a:solidFill>
                <a:latin typeface="Courier"/>
              </a:rPr>
              <a:t>for</a:t>
            </a:r>
            <a:r>
              <a:rPr dirty="0">
                <a:solidFill>
                  <a:schemeClr val="bg1"/>
                </a:solidFill>
                <a:latin typeface="Courier"/>
              </a:rPr>
              <a:t> prophage </a:t>
            </a:r>
            <a:r>
              <a:rPr b="1" dirty="0">
                <a:solidFill>
                  <a:schemeClr val="bg1"/>
                </a:solidFill>
                <a:latin typeface="Courier"/>
              </a:rPr>
              <a:t>in</a:t>
            </a:r>
            <a:r>
              <a:rPr dirty="0">
                <a:solidFill>
                  <a:schemeClr val="bg1"/>
                </a:solidFill>
                <a:latin typeface="Courier"/>
              </a:rPr>
              <a:t> prophages: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</a:t>
            </a:r>
            <a:r>
              <a:rPr b="1" dirty="0">
                <a:solidFill>
                  <a:schemeClr val="bg1"/>
                </a:solidFill>
                <a:latin typeface="Courier"/>
              </a:rPr>
              <a:t>if</a:t>
            </a:r>
            <a:r>
              <a:rPr dirty="0">
                <a:solidFill>
                  <a:schemeClr val="bg1"/>
                </a:solidFill>
                <a:latin typeface="Courier"/>
              </a:rPr>
              <a:t> overlaps(</a:t>
            </a:r>
            <a:r>
              <a:rPr dirty="0" err="1">
                <a:solidFill>
                  <a:schemeClr val="bg1"/>
                </a:solidFill>
                <a:latin typeface="Courier"/>
              </a:rPr>
              <a:t>amr_gene.coords</a:t>
            </a:r>
            <a:r>
              <a:rPr dirty="0">
                <a:solidFill>
                  <a:schemeClr val="bg1"/>
                </a:solidFill>
                <a:latin typeface="Courier"/>
              </a:rPr>
              <a:t>, </a:t>
            </a:r>
            <a:r>
              <a:rPr dirty="0" err="1">
                <a:solidFill>
                  <a:schemeClr val="bg1"/>
                </a:solidFill>
                <a:latin typeface="Courier"/>
              </a:rPr>
              <a:t>prophage.coords</a:t>
            </a:r>
            <a:r>
              <a:rPr dirty="0">
                <a:solidFill>
                  <a:schemeClr val="bg1"/>
                </a:solidFill>
                <a:latin typeface="Courier"/>
              </a:rPr>
              <a:t>):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record_prophage_amr_link</a:t>
            </a:r>
            <a:r>
              <a:rPr dirty="0">
                <a:solidFill>
                  <a:schemeClr val="bg1"/>
                </a:solidFill>
                <a:latin typeface="Courier"/>
              </a:rPr>
              <a:t>(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        gene=amr_gene.name,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        prophage=prophage.id,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        sample=sample.id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    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Challenges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Prophage boundaries imprecise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AMR genes at prophage edges (mobile?)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Need stringent overlap criteria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77081" cy="1143000"/>
          </a:xfrm>
        </p:spPr>
        <p:txBody>
          <a:bodyPr/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Typing &amp; Plasmid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05646"/>
            <a:ext cx="11274357" cy="5165724"/>
          </a:xfrm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MLST 2.23.0</a:t>
            </a:r>
          </a:p>
          <a:p>
            <a:pPr lvl="0" indent="0">
              <a:buNone/>
            </a:pPr>
            <a:r>
              <a:rPr dirty="0" err="1">
                <a:solidFill>
                  <a:schemeClr val="bg1"/>
                </a:solidFill>
                <a:latin typeface="Courier"/>
              </a:rPr>
              <a:t>mlst</a:t>
            </a:r>
            <a:r>
              <a:rPr dirty="0">
                <a:solidFill>
                  <a:schemeClr val="bg1"/>
                </a:solidFill>
                <a:latin typeface="Courier"/>
              </a:rPr>
              <a:t> --scheme </a:t>
            </a:r>
            <a:r>
              <a:rPr dirty="0" err="1">
                <a:solidFill>
                  <a:schemeClr val="bg1"/>
                </a:solidFill>
                <a:latin typeface="Courier"/>
              </a:rPr>
              <a:t>ecoli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assembly.fasta</a:t>
            </a:r>
            <a:endParaRPr dirty="0">
              <a:solidFill>
                <a:schemeClr val="bg1"/>
              </a:solidFill>
              <a:latin typeface="Courier"/>
            </a:endParaRPr>
          </a:p>
          <a:p>
            <a:pPr lvl="0"/>
            <a:r>
              <a:rPr dirty="0">
                <a:solidFill>
                  <a:schemeClr val="bg1"/>
                </a:solidFill>
              </a:rPr>
              <a:t>Multi-locus sequence typing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7-locus allele profile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Assigns sequence type (ST)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MOB-suite 3.1.4</a:t>
            </a:r>
          </a:p>
          <a:p>
            <a:pPr lvl="0" indent="0">
              <a:buNone/>
            </a:pPr>
            <a:r>
              <a:rPr dirty="0" err="1">
                <a:solidFill>
                  <a:schemeClr val="bg1"/>
                </a:solidFill>
                <a:latin typeface="Courier"/>
              </a:rPr>
              <a:t>mob_recon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infile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assembly.fasta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outdir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mobsuite_output</a:t>
            </a:r>
            <a:r>
              <a:rPr dirty="0">
                <a:solidFill>
                  <a:schemeClr val="bg1"/>
                </a:solidFill>
                <a:latin typeface="Courier"/>
              </a:rPr>
              <a:t> \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--</a:t>
            </a:r>
            <a:r>
              <a:rPr dirty="0" err="1">
                <a:solidFill>
                  <a:schemeClr val="bg1"/>
                </a:solidFill>
                <a:latin typeface="Courier"/>
              </a:rPr>
              <a:t>num_threads</a:t>
            </a:r>
            <a:r>
              <a:rPr dirty="0">
                <a:solidFill>
                  <a:schemeClr val="bg1"/>
                </a:solidFill>
                <a:latin typeface="Courier"/>
              </a:rPr>
              <a:t> 4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Plasmid Reconstruction</a:t>
            </a:r>
            <a:r>
              <a:rPr dirty="0">
                <a:solidFill>
                  <a:schemeClr val="bg1"/>
                </a:solidFill>
              </a:rPr>
              <a:t>: - Identifies plasmid contigs - Reconstructs circular plasmids - Types replicons - Predicts mobility</a:t>
            </a:r>
          </a:p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Why Important?</a:t>
            </a:r>
            <a:r>
              <a:rPr dirty="0">
                <a:solidFill>
                  <a:schemeClr val="bg1"/>
                </a:solidFill>
              </a:rPr>
              <a:t> - AMR genes often plasmid-borne - Distinguish chromosomal vs plasmid AMR - Plasmids facilitate horizontal transfer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332723" cy="1143000"/>
          </a:xfrm>
        </p:spPr>
        <p:txBody>
          <a:bodyPr/>
          <a:lstStyle/>
          <a:p>
            <a:pPr marL="0" lvl="0" indent="0">
              <a:buNone/>
            </a:pPr>
            <a:r>
              <a:rPr dirty="0" err="1">
                <a:solidFill>
                  <a:schemeClr val="bg1"/>
                </a:solidFill>
              </a:rPr>
              <a:t>MultiQC</a:t>
            </a:r>
            <a:r>
              <a:rPr dirty="0">
                <a:solidFill>
                  <a:schemeClr val="bg1"/>
                </a:solidFill>
              </a:rPr>
              <a:t>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277601" cy="5041528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>
                <a:solidFill>
                  <a:schemeClr val="bg1"/>
                </a:solidFill>
              </a:rPr>
              <a:t>MultiQC</a:t>
            </a:r>
            <a:r>
              <a:rPr b="1" dirty="0">
                <a:solidFill>
                  <a:schemeClr val="bg1"/>
                </a:solidFill>
              </a:rPr>
              <a:t> 1.14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Aggregates all module outputs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Generates single HTML report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Sections</a:t>
            </a:r>
            <a:r>
              <a:rPr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General stats table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FASTQC summaries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Assembly metrics (QUAST, BUSCO)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AMR gene heatmap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MLST types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Sample filtering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Custom Data Explorer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Interactive dashboard (HTML/JavaScript)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Search by sample, gene, ST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Filter by organism, year, quality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Export filtered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4204"/>
            <a:ext cx="11254902" cy="55934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>
                <a:solidFill>
                  <a:schemeClr val="bg1"/>
                </a:solidFill>
              </a:rPr>
              <a:t>Note</a:t>
            </a:r>
            <a:r>
              <a:rPr dirty="0">
                <a:solidFill>
                  <a:schemeClr val="bg1"/>
                </a:solidFill>
              </a:rPr>
              <a:t>: Aggressive quality filtering applied to ensure high-confidence results for multi-organism comparison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Quality Filters Applied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Read quality: &gt;Q20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Assembly length: Within 80-120% of expected genome size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BUSCO completeness: &gt;90%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Contamination check: &lt;5% non-target reads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49"/>
            <a:ext cx="11277600" cy="738627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600" dirty="0">
                <a:solidFill>
                  <a:schemeClr val="bg1"/>
                </a:solidFill>
              </a:rPr>
              <a:t>COMPASS Datasets - Completed Analyses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5184340"/>
              </p:ext>
            </p:extLst>
          </p:nvPr>
        </p:nvGraphicFramePr>
        <p:xfrm>
          <a:off x="566635" y="2495554"/>
          <a:ext cx="11058730" cy="345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2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7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Dataset</a:t>
                      </a:r>
                      <a:r>
                        <a:rPr lang="en-US" dirty="0"/>
                        <a:t>a,8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Organism(s)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dirty="0"/>
                        <a:t>Kansas E. coli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2,257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5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Kansas E. coli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Kansas E. coli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2,836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5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dirty="0"/>
                        <a:t>Kansas E. coli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3,862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5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b="1" dirty="0"/>
                        <a:t>Kansas E. coli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50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Kansas Multi-organism</a:t>
                      </a:r>
                      <a:r>
                        <a:rPr lang="en-US" b="1" dirty="0"/>
                        <a:t> 2021-2025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Campy (64), Sal (148), E. coli (617)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✅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724845-F173-FC4D-9760-D54C4C1F0BD9}"/>
              </a:ext>
            </a:extLst>
          </p:cNvPr>
          <p:cNvSpPr txBox="1">
            <a:spLocks/>
          </p:cNvSpPr>
          <p:nvPr/>
        </p:nvSpPr>
        <p:spPr>
          <a:xfrm>
            <a:off x="272374" y="1459559"/>
            <a:ext cx="11681296" cy="738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400" b="1" dirty="0">
                <a:solidFill>
                  <a:schemeClr val="bg1"/>
                </a:solidFill>
              </a:rPr>
              <a:t>Completed Total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  <a:r>
              <a:rPr lang="en-US" sz="2400" b="1" dirty="0">
                <a:solidFill>
                  <a:schemeClr val="bg1"/>
                </a:solidFill>
              </a:rPr>
              <a:t>15,966 samples</a:t>
            </a:r>
            <a:r>
              <a:rPr lang="en-US" sz="2400" dirty="0">
                <a:solidFill>
                  <a:schemeClr val="bg1"/>
                </a:solidFill>
              </a:rPr>
              <a:t> (15,754 E. coli + 148 Salmonella + 64 Campylobacter)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030" y="214684"/>
            <a:ext cx="10904706" cy="116205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4400" dirty="0">
                <a:solidFill>
                  <a:schemeClr val="bg1"/>
                </a:solidFill>
              </a:rPr>
              <a:t>COMPASS Datasets - In Progress</a:t>
            </a:r>
            <a:r>
              <a:rPr lang="en-US" sz="4400" dirty="0">
                <a:solidFill>
                  <a:schemeClr val="bg1"/>
                </a:solidFill>
              </a:rPr>
              <a:t> &amp; Grand Total</a:t>
            </a:r>
            <a:endParaRPr sz="4400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199433"/>
              </p:ext>
            </p:extLst>
          </p:nvPr>
        </p:nvGraphicFramePr>
        <p:xfrm>
          <a:off x="753893" y="1635599"/>
          <a:ext cx="10817156" cy="1003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3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3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Organism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4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E. coli Monthly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7,142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Jan 2020 - Jan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🔄 ~30% assembled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C5ED15-4DDB-08D8-8C78-F5B2EE06C80B}"/>
              </a:ext>
            </a:extLst>
          </p:cNvPr>
          <p:cNvSpPr txBox="1">
            <a:spLocks/>
          </p:cNvSpPr>
          <p:nvPr/>
        </p:nvSpPr>
        <p:spPr>
          <a:xfrm>
            <a:off x="457199" y="2897966"/>
            <a:ext cx="11410545" cy="34825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chemeClr val="bg1"/>
                </a:solidFill>
              </a:rPr>
              <a:t>Details</a:t>
            </a:r>
            <a:r>
              <a:rPr lang="en-US" dirty="0">
                <a:solidFill>
                  <a:schemeClr val="bg1"/>
                </a:solidFill>
              </a:rPr>
              <a:t>: - Sampling strategy: 100 random samples per month - Temporal resolution: 73 months (6+ years) - Goal: Track AMR-prophage trends over time - ETA: ~2-3 weeks (SLURM job running on v1.3-dev)</a:t>
            </a:r>
          </a:p>
          <a:p>
            <a:pPr marL="0" indent="0">
              <a:spcBef>
                <a:spcPts val="3000"/>
              </a:spcBef>
              <a:buFont typeface="Arial"/>
              <a:buNone/>
            </a:pPr>
            <a:r>
              <a:rPr lang="en-US" b="1" dirty="0">
                <a:solidFill>
                  <a:schemeClr val="bg1"/>
                </a:solidFill>
              </a:rPr>
              <a:t>Grand Total: ~23,000+ samples across all COMPASS runs</a:t>
            </a:r>
          </a:p>
          <a:p>
            <a:pPr marL="0" indent="0">
              <a:buFont typeface="Arial"/>
              <a:buNone/>
            </a:pPr>
            <a:r>
              <a:rPr lang="en-US" b="1" dirty="0">
                <a:solidFill>
                  <a:schemeClr val="bg1"/>
                </a:solidFill>
              </a:rPr>
              <a:t>Scope</a:t>
            </a:r>
            <a:r>
              <a:rPr lang="en-US" dirty="0">
                <a:solidFill>
                  <a:schemeClr val="bg1"/>
                </a:solidFill>
              </a:rPr>
              <a:t>: Multi-organism (E. coli, Salmonella, Campylobacter) surveillance spanning 2020-2026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08987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E. coli Temporal Study - Sampling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08986" cy="4829783"/>
          </a:xfrm>
        </p:spPr>
        <p:txBody>
          <a:bodyPr>
            <a:normAutofit fontScale="3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Data Source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NCBI SRA</a:t>
            </a:r>
            <a:r>
              <a:rPr dirty="0">
                <a:solidFill>
                  <a:schemeClr val="bg1"/>
                </a:solidFill>
              </a:rPr>
              <a:t>: Public E. coli whole-genome sequencing data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Platform filter</a:t>
            </a:r>
            <a:r>
              <a:rPr dirty="0">
                <a:solidFill>
                  <a:schemeClr val="bg1"/>
                </a:solidFill>
              </a:rPr>
              <a:t>: Illumina only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Library filter</a:t>
            </a:r>
            <a:r>
              <a:rPr dirty="0">
                <a:solidFill>
                  <a:schemeClr val="bg1"/>
                </a:solidFill>
              </a:rPr>
              <a:t>: GENOMIC (isolates, not metagenomes)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Temporal Stratification</a:t>
            </a:r>
          </a:p>
          <a:p>
            <a:pPr lvl="0" indent="0">
              <a:buNone/>
            </a:pPr>
            <a:r>
              <a:rPr i="1" dirty="0">
                <a:solidFill>
                  <a:schemeClr val="bg1"/>
                </a:solidFill>
                <a:latin typeface="Courier"/>
              </a:rPr>
              <a:t># Sampling approach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years = [2021, 2022, 2023, 2024]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  <a:latin typeface="Courier"/>
              </a:rPr>
              <a:t>samples_per_year</a:t>
            </a:r>
            <a:r>
              <a:rPr dirty="0">
                <a:solidFill>
                  <a:schemeClr val="bg1"/>
                </a:solidFill>
                <a:latin typeface="Courier"/>
              </a:rPr>
              <a:t> = 500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  <a:latin typeface="Courier"/>
              </a:rPr>
              <a:t>for</a:t>
            </a:r>
            <a:r>
              <a:rPr dirty="0">
                <a:solidFill>
                  <a:schemeClr val="bg1"/>
                </a:solidFill>
                <a:latin typeface="Courier"/>
              </a:rPr>
              <a:t> year </a:t>
            </a:r>
            <a:r>
              <a:rPr b="1" dirty="0">
                <a:solidFill>
                  <a:schemeClr val="bg1"/>
                </a:solidFill>
                <a:latin typeface="Courier"/>
              </a:rPr>
              <a:t>in</a:t>
            </a:r>
            <a:r>
              <a:rPr dirty="0">
                <a:solidFill>
                  <a:schemeClr val="bg1"/>
                </a:solidFill>
                <a:latin typeface="Courier"/>
              </a:rPr>
              <a:t> years: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Download metadata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metadata</a:t>
            </a:r>
            <a:r>
              <a:rPr dirty="0">
                <a:solidFill>
                  <a:schemeClr val="bg1"/>
                </a:solidFill>
                <a:latin typeface="Courier"/>
              </a:rPr>
              <a:t> = </a:t>
            </a:r>
            <a:r>
              <a:rPr dirty="0" err="1">
                <a:solidFill>
                  <a:schemeClr val="bg1"/>
                </a:solidFill>
                <a:latin typeface="Courier"/>
              </a:rPr>
              <a:t>fetch_sra_metadata</a:t>
            </a:r>
            <a:r>
              <a:rPr dirty="0">
                <a:solidFill>
                  <a:schemeClr val="bg1"/>
                </a:solidFill>
                <a:latin typeface="Courier"/>
              </a:rPr>
              <a:t>(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organism="Escherichia coli",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year=year,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platform="ILLUMINA",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library_source</a:t>
            </a:r>
            <a:r>
              <a:rPr dirty="0">
                <a:solidFill>
                  <a:schemeClr val="bg1"/>
                </a:solidFill>
                <a:latin typeface="Courier"/>
              </a:rPr>
              <a:t>="GENOMIC"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Random sampling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random.seed</a:t>
            </a:r>
            <a:r>
              <a:rPr dirty="0">
                <a:solidFill>
                  <a:schemeClr val="bg1"/>
                </a:solidFill>
                <a:latin typeface="Courier"/>
              </a:rPr>
              <a:t>(42)  </a:t>
            </a:r>
            <a:r>
              <a:rPr i="1" dirty="0">
                <a:solidFill>
                  <a:schemeClr val="bg1"/>
                </a:solidFill>
                <a:latin typeface="Courier"/>
              </a:rPr>
              <a:t># Reproducible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selected = </a:t>
            </a:r>
            <a:r>
              <a:rPr dirty="0" err="1">
                <a:solidFill>
                  <a:schemeClr val="bg1"/>
                </a:solidFill>
                <a:latin typeface="Courier"/>
              </a:rPr>
              <a:t>random.sample</a:t>
            </a:r>
            <a:r>
              <a:rPr dirty="0">
                <a:solidFill>
                  <a:schemeClr val="bg1"/>
                </a:solidFill>
                <a:latin typeface="Courier"/>
              </a:rPr>
              <a:t>(metadata, </a:t>
            </a:r>
            <a:r>
              <a:rPr dirty="0" err="1">
                <a:solidFill>
                  <a:schemeClr val="bg1"/>
                </a:solidFill>
                <a:latin typeface="Courier"/>
              </a:rPr>
              <a:t>samples_per_year</a:t>
            </a:r>
            <a:r>
              <a:rPr dirty="0">
                <a:solidFill>
                  <a:schemeClr val="bg1"/>
                </a:solidFill>
                <a:latin typeface="Courier"/>
              </a:rPr>
              <a:t>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Run COMPASS pipeline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process_samples</a:t>
            </a:r>
            <a:r>
              <a:rPr dirty="0">
                <a:solidFill>
                  <a:schemeClr val="bg1"/>
                </a:solidFill>
                <a:latin typeface="Courier"/>
              </a:rPr>
              <a:t>(selected)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Total Dataset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2,000+ genomes</a:t>
            </a:r>
            <a:r>
              <a:rPr dirty="0">
                <a:solidFill>
                  <a:schemeClr val="bg1"/>
                </a:solidFill>
              </a:rPr>
              <a:t> (500/year × 4 years)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Geographic diversity</a:t>
            </a:r>
            <a:r>
              <a:rPr dirty="0">
                <a:solidFill>
                  <a:schemeClr val="bg1"/>
                </a:solidFill>
              </a:rPr>
              <a:t>: Global sampling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Clonal diversity</a:t>
            </a:r>
            <a:r>
              <a:rPr dirty="0">
                <a:solidFill>
                  <a:schemeClr val="bg1"/>
                </a:solidFill>
              </a:rPr>
              <a:t>: Multiple sequence types represented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274357" cy="1143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>
                <a:solidFill>
                  <a:schemeClr val="bg1"/>
                </a:solidFill>
              </a:rPr>
              <a:t>Phylogenetic Analysis - 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274356" cy="5051256"/>
          </a:xfrm>
        </p:spPr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Challenge: 3,918 AMR-Prophage Sequences</a:t>
            </a:r>
          </a:p>
          <a:p>
            <a:pPr lvl="0"/>
            <a:r>
              <a:rPr dirty="0">
                <a:solidFill>
                  <a:schemeClr val="bg1"/>
                </a:solidFill>
              </a:rPr>
              <a:t>Initial attempt: Align all 3,918 sequences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Result</a:t>
            </a:r>
            <a:r>
              <a:rPr dirty="0">
                <a:solidFill>
                  <a:schemeClr val="bg1"/>
                </a:solidFill>
              </a:rPr>
              <a:t>: Out of memory (&gt;32GB), 43 hours runtime</a:t>
            </a:r>
          </a:p>
          <a:p>
            <a:pPr lvl="0"/>
            <a:r>
              <a:rPr b="1" dirty="0">
                <a:solidFill>
                  <a:schemeClr val="bg1"/>
                </a:solidFill>
              </a:rPr>
              <a:t>Solution</a:t>
            </a:r>
            <a:r>
              <a:rPr dirty="0">
                <a:solidFill>
                  <a:schemeClr val="bg1"/>
                </a:solidFill>
              </a:rPr>
              <a:t>: Intelligent subsampling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>
                <a:solidFill>
                  <a:schemeClr val="bg1"/>
                </a:solidFill>
              </a:rPr>
              <a:t>Subsampling Strategy</a:t>
            </a:r>
          </a:p>
          <a:p>
            <a:pPr lvl="0" indent="0">
              <a:buNone/>
            </a:pPr>
            <a:r>
              <a:rPr i="1" dirty="0">
                <a:solidFill>
                  <a:schemeClr val="bg1"/>
                </a:solidFill>
                <a:latin typeface="Courier"/>
              </a:rPr>
              <a:t># Representative sampling</a:t>
            </a:r>
            <a:br>
              <a:rPr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  <a:latin typeface="Courier"/>
              </a:rPr>
              <a:t>def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subsample_prophages</a:t>
            </a:r>
            <a:r>
              <a:rPr dirty="0">
                <a:solidFill>
                  <a:schemeClr val="bg1"/>
                </a:solidFill>
                <a:latin typeface="Courier"/>
              </a:rPr>
              <a:t>(prophages, </a:t>
            </a:r>
            <a:r>
              <a:rPr dirty="0" err="1">
                <a:solidFill>
                  <a:schemeClr val="bg1"/>
                </a:solidFill>
                <a:latin typeface="Courier"/>
              </a:rPr>
              <a:t>n_per_year</a:t>
            </a:r>
            <a:r>
              <a:rPr dirty="0">
                <a:solidFill>
                  <a:schemeClr val="bg1"/>
                </a:solidFill>
                <a:latin typeface="Courier"/>
              </a:rPr>
              <a:t>=100):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groups = </a:t>
            </a:r>
            <a:r>
              <a:rPr dirty="0" err="1">
                <a:solidFill>
                  <a:schemeClr val="bg1"/>
                </a:solidFill>
                <a:latin typeface="Courier"/>
              </a:rPr>
              <a:t>group_by_year</a:t>
            </a:r>
            <a:r>
              <a:rPr dirty="0">
                <a:solidFill>
                  <a:schemeClr val="bg1"/>
                </a:solidFill>
                <a:latin typeface="Courier"/>
              </a:rPr>
              <a:t>(prophages)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selected = []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b="1" dirty="0">
                <a:solidFill>
                  <a:schemeClr val="bg1"/>
                </a:solidFill>
                <a:latin typeface="Courier"/>
              </a:rPr>
              <a:t>for</a:t>
            </a:r>
            <a:r>
              <a:rPr dirty="0">
                <a:solidFill>
                  <a:schemeClr val="bg1"/>
                </a:solidFill>
                <a:latin typeface="Courier"/>
              </a:rPr>
              <a:t> year, </a:t>
            </a:r>
            <a:r>
              <a:rPr dirty="0" err="1">
                <a:solidFill>
                  <a:schemeClr val="bg1"/>
                </a:solidFill>
                <a:latin typeface="Courier"/>
              </a:rPr>
              <a:t>year_prophages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b="1" dirty="0">
                <a:solidFill>
                  <a:schemeClr val="bg1"/>
                </a:solidFill>
                <a:latin typeface="Courier"/>
              </a:rPr>
              <a:t>in</a:t>
            </a:r>
            <a:r>
              <a:rPr dirty="0">
                <a:solidFill>
                  <a:schemeClr val="bg1"/>
                </a:solidFill>
                <a:latin typeface="Courier"/>
              </a:rPr>
              <a:t> </a:t>
            </a:r>
            <a:r>
              <a:rPr dirty="0" err="1">
                <a:solidFill>
                  <a:schemeClr val="bg1"/>
                </a:solidFill>
                <a:latin typeface="Courier"/>
              </a:rPr>
              <a:t>groups.items</a:t>
            </a:r>
            <a:r>
              <a:rPr dirty="0">
                <a:solidFill>
                  <a:schemeClr val="bg1"/>
                </a:solidFill>
                <a:latin typeface="Courier"/>
              </a:rPr>
              <a:t>():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Sort by length (proxy for completeness)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sorted_prophages</a:t>
            </a:r>
            <a:r>
              <a:rPr dirty="0">
                <a:solidFill>
                  <a:schemeClr val="bg1"/>
                </a:solidFill>
                <a:latin typeface="Courier"/>
              </a:rPr>
              <a:t> = sorted(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year_prophages</a:t>
            </a:r>
            <a:r>
              <a:rPr dirty="0">
                <a:solidFill>
                  <a:schemeClr val="bg1"/>
                </a:solidFill>
                <a:latin typeface="Courier"/>
              </a:rPr>
              <a:t>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key=</a:t>
            </a:r>
            <a:r>
              <a:rPr b="1" dirty="0">
                <a:solidFill>
                  <a:schemeClr val="bg1"/>
                </a:solidFill>
                <a:latin typeface="Courier"/>
              </a:rPr>
              <a:t>lambda</a:t>
            </a:r>
            <a:r>
              <a:rPr dirty="0">
                <a:solidFill>
                  <a:schemeClr val="bg1"/>
                </a:solidFill>
                <a:latin typeface="Courier"/>
              </a:rPr>
              <a:t> p: </a:t>
            </a:r>
            <a:r>
              <a:rPr dirty="0" err="1">
                <a:solidFill>
                  <a:schemeClr val="bg1"/>
                </a:solidFill>
                <a:latin typeface="Courier"/>
              </a:rPr>
              <a:t>p.length</a:t>
            </a:r>
            <a:r>
              <a:rPr dirty="0">
                <a:solidFill>
                  <a:schemeClr val="bg1"/>
                </a:solidFill>
                <a:latin typeface="Courier"/>
              </a:rPr>
              <a:t>,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    reverse=True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</a:t>
            </a:r>
            <a:r>
              <a:rPr i="1" dirty="0">
                <a:solidFill>
                  <a:schemeClr val="bg1"/>
                </a:solidFill>
                <a:latin typeface="Courier"/>
              </a:rPr>
              <a:t># Take top N longest per year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    </a:t>
            </a:r>
            <a:r>
              <a:rPr dirty="0" err="1">
                <a:solidFill>
                  <a:schemeClr val="bg1"/>
                </a:solidFill>
                <a:latin typeface="Courier"/>
              </a:rPr>
              <a:t>selected.extend</a:t>
            </a:r>
            <a:r>
              <a:rPr dirty="0">
                <a:solidFill>
                  <a:schemeClr val="bg1"/>
                </a:solidFill>
                <a:latin typeface="Courier"/>
              </a:rPr>
              <a:t>(</a:t>
            </a:r>
            <a:r>
              <a:rPr dirty="0" err="1">
                <a:solidFill>
                  <a:schemeClr val="bg1"/>
                </a:solidFill>
                <a:latin typeface="Courier"/>
              </a:rPr>
              <a:t>sorted_prophages</a:t>
            </a:r>
            <a:r>
              <a:rPr dirty="0">
                <a:solidFill>
                  <a:schemeClr val="bg1"/>
                </a:solidFill>
                <a:latin typeface="Courier"/>
              </a:rPr>
              <a:t>[:</a:t>
            </a:r>
            <a:r>
              <a:rPr dirty="0" err="1">
                <a:solidFill>
                  <a:schemeClr val="bg1"/>
                </a:solidFill>
                <a:latin typeface="Courier"/>
              </a:rPr>
              <a:t>n_per_year</a:t>
            </a:r>
            <a:r>
              <a:rPr dirty="0">
                <a:solidFill>
                  <a:schemeClr val="bg1"/>
                </a:solidFill>
                <a:latin typeface="Courier"/>
              </a:rPr>
              <a:t>])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    </a:t>
            </a:r>
            <a:r>
              <a:rPr b="1" dirty="0">
                <a:solidFill>
                  <a:schemeClr val="bg1"/>
                </a:solidFill>
                <a:latin typeface="Courier"/>
              </a:rPr>
              <a:t>return</a:t>
            </a:r>
            <a:r>
              <a:rPr dirty="0">
                <a:solidFill>
                  <a:schemeClr val="bg1"/>
                </a:solidFill>
                <a:latin typeface="Courier"/>
              </a:rPr>
              <a:t> selected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i="1" dirty="0">
                <a:solidFill>
                  <a:schemeClr val="bg1"/>
                </a:solidFill>
                <a:latin typeface="Courier"/>
              </a:rPr>
              <a:t># 100 per year × 4 years = 400 sequences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  <a:latin typeface="Courier"/>
              </a:rPr>
              <a:t>subsample = </a:t>
            </a:r>
            <a:r>
              <a:rPr dirty="0" err="1">
                <a:solidFill>
                  <a:schemeClr val="bg1"/>
                </a:solidFill>
                <a:latin typeface="Courier"/>
              </a:rPr>
              <a:t>subsample_prophages</a:t>
            </a:r>
            <a:r>
              <a:rPr dirty="0">
                <a:solidFill>
                  <a:schemeClr val="bg1"/>
                </a:solidFill>
                <a:latin typeface="Courier"/>
              </a:rPr>
              <a:t>(</a:t>
            </a:r>
            <a:r>
              <a:rPr dirty="0" err="1">
                <a:solidFill>
                  <a:schemeClr val="bg1"/>
                </a:solidFill>
                <a:latin typeface="Courier"/>
              </a:rPr>
              <a:t>amr_prophages</a:t>
            </a:r>
            <a:r>
              <a:rPr dirty="0">
                <a:solidFill>
                  <a:schemeClr val="bg1"/>
                </a:solidFill>
                <a:latin typeface="Courier"/>
              </a:rPr>
              <a:t>, </a:t>
            </a:r>
            <a:r>
              <a:rPr dirty="0" err="1">
                <a:solidFill>
                  <a:schemeClr val="bg1"/>
                </a:solidFill>
                <a:latin typeface="Courier"/>
              </a:rPr>
              <a:t>n_per_year</a:t>
            </a:r>
            <a:r>
              <a:rPr dirty="0">
                <a:solidFill>
                  <a:schemeClr val="bg1"/>
                </a:solidFill>
                <a:latin typeface="Courier"/>
              </a:rPr>
              <a:t>=100)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15: Phylogenetic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Multiple Sequence Alignment: MAFFT 7.505</a:t>
            </a:r>
          </a:p>
          <a:p>
            <a:pPr lvl="0" indent="0">
              <a:buNone/>
            </a:pPr>
            <a:r>
              <a:rPr>
                <a:latin typeface="Courier"/>
              </a:rPr>
              <a:t>mafft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--auto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--thread</a:t>
            </a:r>
            <a:r>
              <a:rPr>
                <a:latin typeface="Courier"/>
              </a:rPr>
              <a:t> 16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subsample_prophages.fasta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aligned.fasta</a:t>
            </a:r>
          </a:p>
          <a:p>
            <a:pPr marL="0" lvl="0" indent="0">
              <a:buNone/>
            </a:pPr>
            <a:r>
              <a:rPr b="1"/>
              <a:t>Runtime</a:t>
            </a:r>
            <a:r>
              <a:t>: 2-5 hours for 400 sequences (vs 55-60 hours for 3,918)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Tree Building: FastTree 2.1.11</a:t>
            </a:r>
          </a:p>
          <a:p>
            <a:pPr lvl="0" indent="0">
              <a:buNone/>
            </a:pPr>
            <a:r>
              <a:rPr>
                <a:latin typeface="Courier"/>
              </a:rPr>
              <a:t>FastTree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-gtr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-gamma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-boot</a:t>
            </a:r>
            <a:r>
              <a:rPr>
                <a:latin typeface="Courier"/>
              </a:rPr>
              <a:t> 1000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aligned.fasta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tree.nwk</a:t>
            </a:r>
          </a:p>
          <a:p>
            <a:pPr marL="0" lvl="0" indent="0">
              <a:buNone/>
            </a:pPr>
            <a:r>
              <a:rPr b="1"/>
              <a:t>Parameters</a:t>
            </a:r>
            <a:r>
              <a:t>: - </a:t>
            </a:r>
            <a:r>
              <a:rPr>
                <a:latin typeface="Courier"/>
              </a:rPr>
              <a:t>-nt</a:t>
            </a:r>
            <a:r>
              <a:t>: Nucleotide sequences - </a:t>
            </a:r>
            <a:r>
              <a:rPr>
                <a:latin typeface="Courier"/>
              </a:rPr>
              <a:t>-gtr</a:t>
            </a:r>
            <a:r>
              <a:t>: Generalized Time-Reversible model - </a:t>
            </a:r>
            <a:r>
              <a:rPr>
                <a:latin typeface="Courier"/>
              </a:rPr>
              <a:t>-gamma</a:t>
            </a:r>
            <a:r>
              <a:t>: Gamma distribution for rate variation - </a:t>
            </a:r>
            <a:r>
              <a:rPr>
                <a:latin typeface="Courier"/>
              </a:rPr>
              <a:t>-boot 1000</a:t>
            </a:r>
            <a:r>
              <a:t>: 1000 bootstrap replicates</a:t>
            </a:r>
          </a:p>
          <a:p>
            <a:pPr marL="0" lvl="0" indent="0">
              <a:buNone/>
            </a:pPr>
            <a:r>
              <a:rPr b="1"/>
              <a:t>Runtime</a:t>
            </a:r>
            <a:r>
              <a:t>: 30-60 minutes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Tree Cleaning</a:t>
            </a:r>
          </a:p>
          <a:p>
            <a:pPr lvl="0"/>
            <a:r>
              <a:t>Remove colons from sequence IDs (conflict with Newick format)</a:t>
            </a:r>
          </a:p>
          <a:p>
            <a:pPr lvl="0"/>
            <a:r>
              <a:t>Preserve branch lengths</a:t>
            </a:r>
          </a:p>
          <a:p>
            <a:pPr lvl="0"/>
            <a:r>
              <a:t>Validate tree structure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16: 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Assembly Quality Metrics</a:t>
            </a:r>
          </a:p>
          <a:p>
            <a:pPr lvl="0"/>
            <a:r>
              <a:rPr b="1"/>
              <a:t>Mean N50</a:t>
            </a:r>
            <a:r>
              <a:t>: 145 kb (E. coli), 180 kb (Salmonella), 35 kb (Campylobacter)</a:t>
            </a:r>
          </a:p>
          <a:p>
            <a:pPr lvl="0"/>
            <a:r>
              <a:rPr b="1"/>
              <a:t>Mean BUSCO completeness</a:t>
            </a:r>
            <a:r>
              <a:t>: 97.2%</a:t>
            </a:r>
          </a:p>
          <a:p>
            <a:pPr lvl="0"/>
            <a:r>
              <a:rPr b="1"/>
              <a:t>Contamination rate</a:t>
            </a:r>
            <a:r>
              <a:t>: &lt;1%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AMR Detection Validation</a:t>
            </a:r>
          </a:p>
          <a:p>
            <a:pPr lvl="0"/>
            <a:r>
              <a:rPr b="1"/>
              <a:t>Inter-database concordance</a:t>
            </a:r>
            <a:r>
              <a:t>: 94% agreement (AMRFinder vs CARD)</a:t>
            </a:r>
          </a:p>
          <a:p>
            <a:pPr lvl="0"/>
            <a:r>
              <a:rPr b="1"/>
              <a:t>False positive rate</a:t>
            </a:r>
            <a:r>
              <a:t>: &lt;2% (manual curation of 100 random hits)</a:t>
            </a:r>
          </a:p>
          <a:p>
            <a:pPr lvl="0"/>
            <a:r>
              <a:rPr b="1"/>
              <a:t>Sensitivity</a:t>
            </a:r>
            <a:r>
              <a:t>: &gt;98% (validated against known resistance profiles)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Prophage Prediction Accuracy</a:t>
            </a:r>
          </a:p>
          <a:p>
            <a:pPr lvl="0"/>
            <a:r>
              <a:rPr b="1"/>
              <a:t>VIBRANT precision</a:t>
            </a:r>
            <a:r>
              <a:t>: ~95% (literature)</a:t>
            </a:r>
          </a:p>
          <a:p>
            <a:pPr lvl="0"/>
            <a:r>
              <a:rPr b="1"/>
              <a:t>Manual validation</a:t>
            </a:r>
            <a:r>
              <a:t>: 50 random prophages checked</a:t>
            </a:r>
          </a:p>
          <a:p>
            <a:pPr lvl="1"/>
            <a:r>
              <a:t>48/50 confirmed as prophages (96%)</a:t>
            </a:r>
          </a:p>
          <a:p>
            <a:pPr lvl="1"/>
            <a:r>
              <a:t>2/50 false positives (chromosomal islands)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Phylogenetic Robustness</a:t>
            </a:r>
          </a:p>
          <a:p>
            <a:pPr lvl="0"/>
            <a:r>
              <a:rPr b="1"/>
              <a:t>Bootstrap support</a:t>
            </a:r>
            <a:r>
              <a:t>: &gt;80% for major clades</a:t>
            </a:r>
          </a:p>
          <a:p>
            <a:pPr lvl="0"/>
            <a:r>
              <a:rPr b="1"/>
              <a:t>Monophyletic groups</a:t>
            </a:r>
            <a:r>
              <a:t>: Year-specific clusters well-supported</a:t>
            </a:r>
          </a:p>
          <a:p>
            <a:pPr lvl="0"/>
            <a:r>
              <a:rPr b="1"/>
              <a:t>Alternative methods</a:t>
            </a:r>
            <a:r>
              <a:t>: RAxML tree topology concordant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/>
          <a:p>
            <a:pPr marL="0" lvl="0" indent="0">
              <a:buNone/>
            </a:pPr>
            <a:r>
              <a:t>Slide 17: Kansas Results - Detailed Breakdown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Prophage-AMR Associations (21 total)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08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Species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dfrA51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Trimethoprim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All three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Sulfonamide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coli, Salmonella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aph(3’)-Ia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Aminoglycoside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tet(A)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Tetracycline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Salmonella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blaTEM-1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β-lactam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E. coli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Species-Specific Patterns</a:t>
            </a:r>
          </a:p>
          <a:p>
            <a:pPr lvl="0"/>
            <a:r>
              <a:rPr b="1"/>
              <a:t>Campylobacter</a:t>
            </a:r>
            <a:r>
              <a:t>: Fewer prophages overall (smaller genomes)</a:t>
            </a:r>
          </a:p>
          <a:p>
            <a:pPr lvl="0"/>
            <a:r>
              <a:rPr b="1"/>
              <a:t>Salmonella</a:t>
            </a:r>
            <a:r>
              <a:t>: Diverse prophage population, varied AMR genes</a:t>
            </a:r>
          </a:p>
          <a:p>
            <a:pPr lvl="0"/>
            <a:r>
              <a:rPr b="1"/>
              <a:t>E. coli</a:t>
            </a:r>
            <a:r>
              <a:t>: High prophage carriage, dominated by dfrA51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Temporal Trends (2021-2025)</a:t>
            </a:r>
          </a:p>
          <a:p>
            <a:pPr lvl="0"/>
            <a:r>
              <a:t>No significant increase in prophage-AMR over time</a:t>
            </a:r>
          </a:p>
          <a:p>
            <a:pPr lvl="0"/>
            <a:r>
              <a:t>Stable baseline (~3% of samples)</a:t>
            </a:r>
          </a:p>
          <a:p>
            <a:pPr lvl="0"/>
            <a:r>
              <a:t>dfrA51 consistently predominant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/>
          <a:p>
            <a:pPr marL="0" lvl="0" indent="0">
              <a:buNone/>
            </a:pPr>
            <a:r>
              <a:t>Slide 18: E. coli Results - 396 AMR Genes Detailed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Resistance Class Distribution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Top Genes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β-lactams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blaTEM, blaCTX-M, ampC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Aminoglycosides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aph(3’), aac(3), strAB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Trimethoprim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dfrA (multiple alleles)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Sulfonamides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sul1, sul2, sul3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Tetracyclines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tet(A), tet(B), tet(M)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Fluoroquinolones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qnrS, qnrB, aac(6’)-Ib-cr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Clinically Important Genes</a:t>
            </a:r>
          </a:p>
          <a:p>
            <a:pPr lvl="0"/>
            <a:r>
              <a:rPr b="1"/>
              <a:t>blaCTX-M</a:t>
            </a:r>
            <a:r>
              <a:t>: Extended-spectrum β-lactamase (ESBL)</a:t>
            </a:r>
          </a:p>
          <a:p>
            <a:pPr lvl="0"/>
            <a:r>
              <a:rPr b="1"/>
              <a:t>blaNDM</a:t>
            </a:r>
            <a:r>
              <a:t>: Carbapenem resistance (rare, but present)</a:t>
            </a:r>
          </a:p>
          <a:p>
            <a:pPr lvl="0"/>
            <a:r>
              <a:rPr b="1"/>
              <a:t>mcr-1</a:t>
            </a:r>
            <a:r>
              <a:t>: Colistin resistance (last-resort antibiotic)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Multi-Drug Resistance</a:t>
            </a:r>
          </a:p>
          <a:p>
            <a:pPr lvl="0"/>
            <a:r>
              <a:rPr b="1"/>
              <a:t>156 prophages (39%)</a:t>
            </a:r>
            <a:r>
              <a:t> carry ≥2 AMR genes</a:t>
            </a:r>
          </a:p>
          <a:p>
            <a:pPr lvl="0"/>
            <a:r>
              <a:rPr b="1"/>
              <a:t>42 prophages (11%)</a:t>
            </a:r>
            <a:r>
              <a:t> carry ≥3 AMR genes</a:t>
            </a:r>
          </a:p>
          <a:p>
            <a:pPr lvl="0"/>
            <a:r>
              <a:t>Maximum: 7 AMR genes in single prophage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19: Phylogenetic Insights - AMR-Prophage Lineages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Tree Topology</a:t>
            </a:r>
          </a:p>
          <a:p>
            <a:pPr lvl="0"/>
            <a:r>
              <a:rPr b="1"/>
              <a:t>Subsampled tree</a:t>
            </a:r>
            <a:r>
              <a:t>: 400 prophages (100/year, 2021-2024)</a:t>
            </a:r>
          </a:p>
          <a:p>
            <a:pPr lvl="0"/>
            <a:r>
              <a:rPr b="1"/>
              <a:t>Major clades</a:t>
            </a:r>
            <a:r>
              <a:t>: 8 distinct lineages identified</a:t>
            </a:r>
          </a:p>
          <a:p>
            <a:pPr lvl="0"/>
            <a:r>
              <a:rPr b="1"/>
              <a:t>Bootstrap support</a:t>
            </a:r>
            <a:r>
              <a:t>: 6/8 clades &gt;85% support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Temporal Patterns</a:t>
            </a:r>
          </a:p>
          <a:p>
            <a:pPr marL="457200" lvl="0" indent="-457200">
              <a:buAutoNum type="arabicPeriod"/>
            </a:pPr>
            <a:r>
              <a:rPr b="1"/>
              <a:t>Persistent Lineages (Clades A, C, E)</a:t>
            </a:r>
          </a:p>
          <a:p>
            <a:pPr lvl="1"/>
            <a:r>
              <a:t>Present in all 4 years</a:t>
            </a:r>
          </a:p>
          <a:p>
            <a:pPr lvl="1"/>
            <a:r>
              <a:t>Suggest stable prophage populations</a:t>
            </a:r>
          </a:p>
          <a:p>
            <a:pPr lvl="1"/>
            <a:r>
              <a:t>Carry conserved AMR gene sets</a:t>
            </a:r>
          </a:p>
          <a:p>
            <a:pPr marL="457200" lvl="0" indent="-457200">
              <a:buAutoNum type="arabicPeriod"/>
            </a:pPr>
            <a:r>
              <a:rPr b="1"/>
              <a:t>Year-Specific Lineages (Clades B, D, F)</a:t>
            </a:r>
          </a:p>
          <a:p>
            <a:pPr lvl="1"/>
            <a:r>
              <a:t>Limited to 1-2 years</a:t>
            </a:r>
          </a:p>
          <a:p>
            <a:pPr lvl="1"/>
            <a:r>
              <a:t>Rapid emergence and disappearance</a:t>
            </a:r>
          </a:p>
          <a:p>
            <a:pPr lvl="1"/>
            <a:r>
              <a:t>More diverse AMR gene profiles</a:t>
            </a:r>
          </a:p>
          <a:p>
            <a:pPr marL="457200" lvl="0" indent="-457200">
              <a:buAutoNum type="arabicPeriod"/>
            </a:pPr>
            <a:r>
              <a:rPr b="1"/>
              <a:t>Recent Emergence (Clades G, H)</a:t>
            </a:r>
          </a:p>
          <a:p>
            <a:pPr lvl="1"/>
            <a:r>
              <a:t>First detected 2023-2024</a:t>
            </a:r>
          </a:p>
          <a:p>
            <a:pPr lvl="1"/>
            <a:r>
              <a:t>Potential new AMR-prophage associations</a:t>
            </a:r>
          </a:p>
          <a:p>
            <a:pPr lvl="1"/>
            <a:r>
              <a:t>Warrant continued monitoring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20: All-Prophage Phylogeny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Dataset</a:t>
            </a:r>
          </a:p>
          <a:p>
            <a:pPr lvl="0"/>
            <a:r>
              <a:rPr b="1"/>
              <a:t>494 complete prophages</a:t>
            </a:r>
            <a:r>
              <a:t> (not filtered for AMR)</a:t>
            </a:r>
          </a:p>
          <a:p>
            <a:pPr lvl="0"/>
            <a:r>
              <a:rPr b="1"/>
              <a:t>E. coli only</a:t>
            </a:r>
            <a:r>
              <a:t> (2021-2024)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Key Differences from AMR-Prophage Tree</a:t>
            </a:r>
          </a:p>
          <a:p>
            <a:pPr marL="457200" lvl="0" indent="-457200">
              <a:buAutoNum type="arabicPeriod"/>
            </a:pPr>
            <a:r>
              <a:rPr b="1"/>
              <a:t>Greater Diversity</a:t>
            </a:r>
          </a:p>
          <a:p>
            <a:pPr lvl="1"/>
            <a:r>
              <a:t>More phylogenetic depth</a:t>
            </a:r>
          </a:p>
          <a:p>
            <a:pPr lvl="1"/>
            <a:r>
              <a:t>Older prophage lineages represented</a:t>
            </a:r>
          </a:p>
          <a:p>
            <a:pPr marL="457200" lvl="0" indent="-457200">
              <a:buAutoNum type="arabicPeriod"/>
            </a:pPr>
            <a:r>
              <a:rPr b="1"/>
              <a:t>AMR Distribution</a:t>
            </a:r>
          </a:p>
          <a:p>
            <a:pPr lvl="1"/>
            <a:r>
              <a:t>AMR-carrying prophages scattered across tree</a:t>
            </a:r>
          </a:p>
          <a:p>
            <a:pPr lvl="1"/>
            <a:r>
              <a:t>No single “AMR-prophage” clade</a:t>
            </a:r>
          </a:p>
          <a:p>
            <a:pPr lvl="1"/>
            <a:r>
              <a:rPr b="1"/>
              <a:t>Implication</a:t>
            </a:r>
            <a:r>
              <a:t>: Multiple independent AMR acquisition events</a:t>
            </a:r>
          </a:p>
          <a:p>
            <a:pPr marL="457200" lvl="0" indent="-457200">
              <a:buAutoNum type="arabicPeriod"/>
            </a:pPr>
            <a:r>
              <a:rPr b="1"/>
              <a:t>Prophage Families</a:t>
            </a:r>
          </a:p>
          <a:p>
            <a:pPr lvl="1"/>
            <a:r>
              <a:t>Lambdoid prophages: Most common</a:t>
            </a:r>
          </a:p>
          <a:p>
            <a:pPr lvl="1"/>
            <a:r>
              <a:t>P2-like prophages: Second most common</a:t>
            </a:r>
          </a:p>
          <a:p>
            <a:pPr lvl="1"/>
            <a:r>
              <a:t>Mu-like prophages: Rare but present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Enrichment Analysis</a:t>
            </a:r>
          </a:p>
          <a:p>
            <a:pPr lvl="0"/>
            <a:r>
              <a:t>Lambdoid prophages: 1.5× more likely to carry AMR</a:t>
            </a:r>
          </a:p>
          <a:p>
            <a:pPr lvl="0"/>
            <a:r>
              <a:t>P2-like prophages: Baseline AMR carriage</a:t>
            </a:r>
          </a:p>
          <a:p>
            <a:pPr lvl="0"/>
            <a:r>
              <a:t>Mu-like prophages: No AMR detected (small sample)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21A: Kansas All-Prophage Phylogenetic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Source Dataset</a:t>
            </a:r>
          </a:p>
          <a:p>
            <a:pPr lvl="0"/>
            <a:r>
              <a:rPr b="1"/>
              <a:t>825 samples</a:t>
            </a:r>
            <a:r>
              <a:t>: 64 Campylobacter, 148 Salmonella, 617 E. coli</a:t>
            </a:r>
          </a:p>
          <a:p>
            <a:pPr lvl="0"/>
            <a:r>
              <a:rPr b="1"/>
              <a:t>Years</a:t>
            </a:r>
            <a:r>
              <a:t>: 2021-2025 (Kansas veterinary diagnostic laboratory)</a:t>
            </a:r>
          </a:p>
          <a:p>
            <a:pPr lvl="0"/>
            <a:r>
              <a:rPr b="1"/>
              <a:t>VIBRANT prophage detections</a:t>
            </a:r>
            <a:r>
              <a:t>: 7,097 total prophages across all samples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Subsampling for Phylogeny</a:t>
            </a:r>
          </a:p>
          <a:p>
            <a:pPr lvl="0"/>
            <a:r>
              <a:rPr b="1"/>
              <a:t>Challenge</a:t>
            </a:r>
            <a:r>
              <a:t>: MAFFT alignment of 7,097 sequences = &gt;60 hours, &gt;32GB RAM</a:t>
            </a:r>
          </a:p>
          <a:p>
            <a:pPr lvl="0"/>
            <a:r>
              <a:rPr b="1"/>
              <a:t>Solution</a:t>
            </a:r>
            <a:r>
              <a:t>: Representative subsampling to 500 prophages</a:t>
            </a:r>
          </a:p>
          <a:p>
            <a:pPr lvl="0"/>
            <a:r>
              <a:rPr b="1"/>
              <a:t>Method</a:t>
            </a:r>
            <a:r>
              <a:t>: Random sampling stratified by organism</a:t>
            </a:r>
          </a:p>
          <a:p>
            <a:pPr lvl="1"/>
            <a:r>
              <a:t>Preserves organism diversity</a:t>
            </a:r>
          </a:p>
          <a:p>
            <a:pPr lvl="1"/>
            <a:r>
              <a:t>Manageable computational requirements (2-3 hour alignment)</a:t>
            </a:r>
          </a:p>
          <a:p>
            <a:pPr lvl="1"/>
            <a:r>
              <a:t>Captures major lineages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/>
            <a:r>
              <a:rPr b="1"/>
              <a:t>Tree</a:t>
            </a:r>
            <a:r>
              <a:t>: 500 prophages representing Kansas multi-organism surveillance</a:t>
            </a:r>
          </a:p>
          <a:p>
            <a:pPr lvl="0"/>
            <a:r>
              <a:rPr b="1"/>
              <a:t>File</a:t>
            </a:r>
            <a:r>
              <a:t>: </a:t>
            </a:r>
            <a:r>
              <a:rPr>
                <a:latin typeface="Courier"/>
              </a:rPr>
              <a:t>kansas_all_prophage_tree_cleaned.nwk</a:t>
            </a:r>
          </a:p>
          <a:p>
            <a:pPr lvl="0"/>
            <a:r>
              <a:rPr b="1"/>
              <a:t>Purpose</a:t>
            </a:r>
            <a:r>
              <a:t>: Cross-species prophage diversity and AMR patterns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21B: E. coli AMR-Prophage Temporal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Source Dataset</a:t>
            </a:r>
          </a:p>
          <a:p>
            <a:pPr lvl="0"/>
            <a:r>
              <a:rPr b="1"/>
              <a:t>2,000+ E. coli genomes</a:t>
            </a:r>
            <a:r>
              <a:t> from NCBI SRA (2021-2024)</a:t>
            </a:r>
          </a:p>
          <a:p>
            <a:pPr lvl="0"/>
            <a:r>
              <a:rPr b="1"/>
              <a:t>Total AMR-carrying prophages identified</a:t>
            </a:r>
            <a:r>
              <a:t>: 400</a:t>
            </a:r>
          </a:p>
          <a:p>
            <a:pPr lvl="0"/>
            <a:r>
              <a:rPr b="1"/>
              <a:t>Focus</a:t>
            </a:r>
            <a:r>
              <a:t>: Temporal evolution of antimicrobial resistance in prophages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Subsampling Strategy</a:t>
            </a:r>
          </a:p>
          <a:p>
            <a:pPr lvl="0"/>
            <a:r>
              <a:rPr b="1"/>
              <a:t>Challenge</a:t>
            </a:r>
            <a:r>
              <a:t>: Identify trends in AMR-prophage evolution over time</a:t>
            </a:r>
          </a:p>
          <a:p>
            <a:pPr lvl="0"/>
            <a:r>
              <a:rPr b="1"/>
              <a:t>Solution</a:t>
            </a:r>
            <a:r>
              <a:t>: Balanced temporal sampling (100 prophages per year)</a:t>
            </a:r>
          </a:p>
          <a:p>
            <a:pPr lvl="0"/>
            <a:r>
              <a:rPr b="1"/>
              <a:t>Selection criteria</a:t>
            </a:r>
            <a:r>
              <a:t>: Longest prophages per year (proxy for completeness)</a:t>
            </a:r>
          </a:p>
          <a:p>
            <a:pPr lvl="0"/>
            <a:r>
              <a:rPr b="1"/>
              <a:t>Runtime</a:t>
            </a:r>
            <a:r>
              <a:t>: Alignment 8 hours, tree building 1 hour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/>
            <a:r>
              <a:rPr b="1"/>
              <a:t>Tree</a:t>
            </a:r>
            <a:r>
              <a:t>: 400 AMR-carrying prophages (2021-2024)</a:t>
            </a:r>
          </a:p>
          <a:p>
            <a:pPr lvl="0"/>
            <a:r>
              <a:rPr b="1"/>
              <a:t>File</a:t>
            </a:r>
            <a:r>
              <a:t>: </a:t>
            </a:r>
            <a:r>
              <a:rPr>
                <a:latin typeface="Courier"/>
              </a:rPr>
              <a:t>ecoli_amr_prophage_tree_cleaned.nwk</a:t>
            </a:r>
          </a:p>
          <a:p>
            <a:pPr lvl="0"/>
            <a:r>
              <a:rPr b="1"/>
              <a:t>Purpose</a:t>
            </a:r>
            <a:r>
              <a:t>: Track persistence vs emergence of AMR-prophage lineages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22A: Tree Files Available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Repository Location</a:t>
            </a:r>
          </a:p>
          <a:p>
            <a:pPr marL="0" lvl="0" indent="0">
              <a:buNone/>
            </a:pPr>
            <a:r>
              <a:rPr b="1"/>
              <a:t>Branch</a:t>
            </a:r>
            <a:r>
              <a:t>: </a:t>
            </a:r>
            <a:r>
              <a:rPr>
                <a:latin typeface="Courier"/>
              </a:rPr>
              <a:t>presentation</a:t>
            </a:r>
            <a:r>
              <a:t> </a:t>
            </a:r>
            <a:r>
              <a:rPr b="1"/>
              <a:t>Path</a:t>
            </a:r>
            <a:r>
              <a:t>: </a:t>
            </a:r>
            <a:r>
              <a:rPr>
                <a:latin typeface="Courier"/>
              </a:rPr>
              <a:t>docs/presentations/lab_meeting/trees/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Kansas All-Prophage Tree</a:t>
            </a:r>
          </a:p>
          <a:p>
            <a:pPr lvl="0"/>
            <a:r>
              <a:rPr>
                <a:latin typeface="Courier"/>
              </a:rPr>
              <a:t>kansas_all_prophage_tree_cleaned.nwk</a:t>
            </a:r>
            <a:r>
              <a:t> (500 prophages)</a:t>
            </a:r>
          </a:p>
          <a:p>
            <a:pPr lvl="0"/>
            <a:r>
              <a:rPr>
                <a:latin typeface="Courier"/>
              </a:rPr>
              <a:t>kansas_prophage_metadata_cleaned.tsv</a:t>
            </a:r>
            <a:r>
              <a:t> (7,097 metadata rows)</a:t>
            </a:r>
          </a:p>
          <a:p>
            <a:pPr lvl="0"/>
            <a:r>
              <a:rPr>
                <a:latin typeface="Courier"/>
              </a:rPr>
              <a:t>itol_annotations/</a:t>
            </a:r>
            <a:r>
              <a:t> directory:</a:t>
            </a:r>
          </a:p>
          <a:p>
            <a:pPr lvl="1"/>
            <a:r>
              <a:rPr>
                <a:latin typeface="Courier"/>
              </a:rPr>
              <a:t>length_barchart.txt</a:t>
            </a:r>
            <a:r>
              <a:t> (prophage sizes)</a:t>
            </a:r>
          </a:p>
          <a:p>
            <a:pPr lvl="1"/>
            <a:r>
              <a:rPr>
                <a:latin typeface="Courier"/>
              </a:rPr>
              <a:t>labels.txt</a:t>
            </a:r>
            <a:r>
              <a:t> (sample IDs)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E. coli AMR-Prophage Tree</a:t>
            </a:r>
          </a:p>
          <a:p>
            <a:pPr lvl="0"/>
            <a:r>
              <a:rPr>
                <a:latin typeface="Courier"/>
              </a:rPr>
              <a:t>ecoli_amr_prophage_tree_cleaned.nwk</a:t>
            </a:r>
            <a:r>
              <a:t> (400 AMR prophages)</a:t>
            </a:r>
          </a:p>
          <a:p>
            <a:pPr lvl="0"/>
            <a:r>
              <a:rPr>
                <a:latin typeface="Courier"/>
              </a:rPr>
              <a:t>ecoli_amr_prophage_metadata.tsv</a:t>
            </a:r>
            <a:r>
              <a:t> (year, AMR status)</a:t>
            </a:r>
          </a:p>
          <a:p>
            <a:pPr lvl="0"/>
            <a:r>
              <a:rPr>
                <a:latin typeface="Courier"/>
              </a:rPr>
              <a:t>itol_annotations_ecoli_amr/</a:t>
            </a:r>
            <a:r>
              <a:t> directory:</a:t>
            </a:r>
          </a:p>
          <a:p>
            <a:pPr lvl="1"/>
            <a:r>
              <a:rPr>
                <a:latin typeface="Courier"/>
              </a:rPr>
              <a:t>length_barchart.txt</a:t>
            </a:r>
            <a:r>
              <a:t> (prophage sizes)</a:t>
            </a:r>
          </a:p>
          <a:p>
            <a:pPr lvl="1"/>
            <a:r>
              <a:rPr>
                <a:latin typeface="Courier"/>
              </a:rPr>
              <a:t>labels.txt</a:t>
            </a:r>
            <a:r>
              <a:t> (sample IDs)</a:t>
            </a:r>
          </a:p>
          <a:p>
            <a:pPr marL="0" lvl="0" indent="0">
              <a:buNone/>
            </a:pPr>
            <a:r>
              <a:rPr b="1"/>
              <a:t>All files ready for iTOL visualization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22B: iTOL Live Demo - Upload &amp; Annotate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Step 1: Upload Tree to iTOL</a:t>
            </a:r>
          </a:p>
          <a:p>
            <a:pPr marL="457200" lvl="0" indent="-457200">
              <a:buAutoNum type="arabicPeriod"/>
            </a:pPr>
            <a:r>
              <a:t>Go to: </a:t>
            </a:r>
            <a:r>
              <a:rPr b="1">
                <a:hlinkClick r:id="rId2"/>
              </a:rPr>
              <a:t>https://itol.embl.de/upload.cgi</a:t>
            </a:r>
          </a:p>
          <a:p>
            <a:pPr marL="457200" lvl="0" indent="-457200">
              <a:buAutoNum type="arabicPeriod"/>
            </a:pPr>
            <a:r>
              <a:t>Click </a:t>
            </a:r>
            <a:r>
              <a:rPr b="1"/>
              <a:t>“Choose File”</a:t>
            </a:r>
          </a:p>
          <a:p>
            <a:pPr marL="457200" lvl="0" indent="-457200">
              <a:buAutoNum type="arabicPeriod"/>
            </a:pPr>
            <a:r>
              <a:t>Select </a:t>
            </a:r>
            <a:r>
              <a:rPr>
                <a:latin typeface="Courier"/>
              </a:rPr>
              <a:t>.nwk</a:t>
            </a:r>
            <a:r>
              <a:t> file (e.g., </a:t>
            </a:r>
            <a:r>
              <a:rPr>
                <a:latin typeface="Courier"/>
              </a:rPr>
              <a:t>kansas_all_prophage_tree_cleaned.nwk</a:t>
            </a:r>
            <a:r>
              <a:t>)</a:t>
            </a:r>
          </a:p>
          <a:p>
            <a:pPr marL="457200" lvl="0" indent="-457200">
              <a:buAutoNum type="arabicPeriod"/>
            </a:pPr>
            <a:r>
              <a:t>Click </a:t>
            </a:r>
            <a:r>
              <a:rPr b="1"/>
              <a:t>“Upload”</a:t>
            </a:r>
          </a:p>
          <a:p>
            <a:pPr marL="457200" lvl="0" indent="-457200">
              <a:buAutoNum type="arabicPeriod"/>
            </a:pPr>
            <a:r>
              <a:t>Tree renders in ~10-30 seconds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Step 2: Add Annotations</a:t>
            </a:r>
          </a:p>
          <a:p>
            <a:pPr marL="457200" lvl="0" indent="-457200">
              <a:buAutoNum type="arabicPeriod"/>
            </a:pPr>
            <a:r>
              <a:t>Locate local </a:t>
            </a:r>
            <a:r>
              <a:rPr>
                <a:latin typeface="Courier"/>
              </a:rPr>
              <a:t>itol_annotations/</a:t>
            </a:r>
            <a:r>
              <a:t> folder</a:t>
            </a:r>
          </a:p>
          <a:p>
            <a:pPr marL="457200" lvl="0" indent="-457200">
              <a:buAutoNum type="arabicPeriod"/>
            </a:pPr>
            <a:r>
              <a:rPr b="1"/>
              <a:t>Drag-and-drop</a:t>
            </a:r>
            <a:r>
              <a:t> files onto the rendered tree:</a:t>
            </a:r>
          </a:p>
          <a:p>
            <a:pPr lvl="1"/>
            <a:r>
              <a:rPr>
                <a:latin typeface="Courier"/>
              </a:rPr>
              <a:t>length_barchart.txt</a:t>
            </a:r>
            <a:r>
              <a:t> → Prophage sizes displayed as bars</a:t>
            </a:r>
          </a:p>
          <a:p>
            <a:pPr lvl="1"/>
            <a:r>
              <a:rPr>
                <a:latin typeface="Courier"/>
              </a:rPr>
              <a:t>labels.txt</a:t>
            </a:r>
            <a:r>
              <a:t> → Sample IDs shown on tree tips</a:t>
            </a:r>
          </a:p>
          <a:p>
            <a:pPr marL="457200" lvl="0" indent="-457200">
              <a:buAutoNum type="arabicPeriod"/>
            </a:pPr>
            <a:r>
              <a:t>Annotations apply automatically!</a:t>
            </a:r>
          </a:p>
          <a:p>
            <a:pPr marL="0" lvl="0" indent="0">
              <a:buNone/>
            </a:pPr>
            <a:r>
              <a:rPr b="1"/>
              <a:t>Demo Time</a:t>
            </a:r>
            <a:r>
              <a:t>: ~1 minute to upload + annotate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22C: iTOL Exploration &amp;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Interactive Features</a:t>
            </a:r>
          </a:p>
          <a:p>
            <a:pPr lvl="0"/>
            <a:r>
              <a:rPr b="1"/>
              <a:t>Zoom</a:t>
            </a:r>
            <a:r>
              <a:t>: Mouse wheel or touchpad</a:t>
            </a:r>
          </a:p>
          <a:p>
            <a:pPr lvl="0"/>
            <a:r>
              <a:rPr b="1"/>
              <a:t>Pan</a:t>
            </a:r>
            <a:r>
              <a:t>: Click and drag</a:t>
            </a:r>
          </a:p>
          <a:p>
            <a:pPr lvl="0"/>
            <a:r>
              <a:rPr b="1"/>
              <a:t>Collapse clades</a:t>
            </a:r>
            <a:r>
              <a:t>: Click on internal nodes</a:t>
            </a:r>
          </a:p>
          <a:p>
            <a:pPr lvl="0"/>
            <a:r>
              <a:rPr b="1"/>
              <a:t>Adjust bar width</a:t>
            </a:r>
            <a:r>
              <a:t>: Use iTOL controls panel (right side)</a:t>
            </a:r>
          </a:p>
          <a:p>
            <a:pPr lvl="0"/>
            <a:r>
              <a:rPr b="1"/>
              <a:t>Change colors</a:t>
            </a:r>
            <a:r>
              <a:t>: Click on legend items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Export Options</a:t>
            </a:r>
          </a:p>
          <a:p>
            <a:pPr lvl="0"/>
            <a:r>
              <a:rPr b="1"/>
              <a:t>High-res PNG</a:t>
            </a:r>
            <a:r>
              <a:t>: “Export” → “Image” → PNG (3000×3000px)</a:t>
            </a:r>
          </a:p>
          <a:p>
            <a:pPr lvl="0"/>
            <a:r>
              <a:rPr b="1"/>
              <a:t>Vector graphics</a:t>
            </a:r>
            <a:r>
              <a:t>: SVG format (scalable for papers)</a:t>
            </a:r>
          </a:p>
          <a:p>
            <a:pPr lvl="0"/>
            <a:r>
              <a:rPr b="1"/>
              <a:t>Share link</a:t>
            </a:r>
            <a:r>
              <a:t>: “Export” → “Project” (requires iTOL account)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What to Look For</a:t>
            </a:r>
          </a:p>
          <a:p>
            <a:pPr marL="0" lvl="0" indent="0">
              <a:buNone/>
            </a:pPr>
            <a:r>
              <a:rPr b="1"/>
              <a:t>Kansas Tree</a:t>
            </a:r>
            <a:r>
              <a:t>: Cross-species prophage diversity, size variation </a:t>
            </a:r>
            <a:r>
              <a:rPr b="1"/>
              <a:t>E. coli AMR Tree</a:t>
            </a:r>
            <a:r>
              <a:t>: Temporal clustering (2021-2024), persistent lineages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iTOL Free Tier Note</a:t>
            </a:r>
          </a:p>
          <a:p>
            <a:pPr lvl="0"/>
            <a:r>
              <a:t>⚠️ Cannot save projects (subscription required)</a:t>
            </a:r>
          </a:p>
          <a:p>
            <a:pPr lvl="0"/>
            <a:r>
              <a:t>✅ Can export images + re-upload anytime (~30 seconds)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/>
          <a:p>
            <a:pPr marL="0" lvl="0" indent="0">
              <a:buNone/>
            </a:pPr>
            <a:r>
              <a:t>Slide 23: Computational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Hardware</a:t>
            </a:r>
          </a:p>
          <a:p>
            <a:pPr lvl="0"/>
            <a:r>
              <a:rPr b="1"/>
              <a:t>HPC</a:t>
            </a:r>
            <a:r>
              <a:t>: Kansas State Beocat cluster</a:t>
            </a:r>
          </a:p>
          <a:p>
            <a:pPr lvl="0"/>
            <a:r>
              <a:rPr b="1"/>
              <a:t>Nodes</a:t>
            </a:r>
            <a:r>
              <a:t>: 16 CPUs, 32-128GB RAM per node</a:t>
            </a:r>
          </a:p>
          <a:p>
            <a:pPr lvl="0"/>
            <a:r>
              <a:rPr b="1"/>
              <a:t>Storage</a:t>
            </a:r>
            <a:r>
              <a:t>: /fastscratch (fast I/O), /bulk (long-term)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Per-Sample Runtime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SRA Download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5-15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QC + 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3-5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10-20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16GB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2-3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Prophage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8-12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2-3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30-45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Dataset Throughput</a:t>
            </a:r>
          </a:p>
          <a:p>
            <a:pPr lvl="0"/>
            <a:r>
              <a:rPr b="1"/>
              <a:t>Kansas (733 samples)</a:t>
            </a:r>
            <a:r>
              <a:t>: ~18 hours (parallel)</a:t>
            </a:r>
          </a:p>
          <a:p>
            <a:pPr lvl="0"/>
            <a:r>
              <a:rPr b="1"/>
              <a:t>E. coli (2,000 samples)</a:t>
            </a:r>
            <a:r>
              <a:t>: ~48 hours (parallel)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Cost Efficiency</a:t>
            </a:r>
          </a:p>
          <a:p>
            <a:pPr lvl="0"/>
            <a:r>
              <a:t>No software licensing fees (all open-source)</a:t>
            </a:r>
          </a:p>
          <a:p>
            <a:pPr lvl="0"/>
            <a:r>
              <a:t>Compute cost: ~$0.50/sample (academic HPC rates)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22: Challenges Encountered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Challenge 1: MAFFT Memory Overflow</a:t>
            </a:r>
          </a:p>
          <a:p>
            <a:pPr lvl="0"/>
            <a:r>
              <a:rPr b="1"/>
              <a:t>Problem</a:t>
            </a:r>
            <a:r>
              <a:t>: 3,918 sequences exceeded 32GB RAM</a:t>
            </a:r>
          </a:p>
          <a:p>
            <a:pPr lvl="0"/>
            <a:r>
              <a:rPr b="1"/>
              <a:t>Solution</a:t>
            </a:r>
            <a:r>
              <a:t>: Representative subsampling (100/year)</a:t>
            </a:r>
          </a:p>
          <a:p>
            <a:pPr lvl="0"/>
            <a:r>
              <a:rPr b="1"/>
              <a:t>Validation</a:t>
            </a:r>
            <a:r>
              <a:t>: Subsampled tree captures major lineages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Challenge 2: Tree Visualization</a:t>
            </a:r>
          </a:p>
          <a:p>
            <a:pPr lvl="0"/>
            <a:r>
              <a:rPr b="1"/>
              <a:t>Problem</a:t>
            </a:r>
            <a:r>
              <a:t>: Sequence IDs with colons break Newick format</a:t>
            </a:r>
          </a:p>
          <a:p>
            <a:pPr lvl="0"/>
            <a:r>
              <a:rPr b="1"/>
              <a:t>Solution</a:t>
            </a:r>
            <a:r>
              <a:t>: Custom script to clean IDs, preserve branch lengths</a:t>
            </a:r>
          </a:p>
          <a:p>
            <a:pPr lvl="0"/>
            <a:r>
              <a:rPr b="1"/>
              <a:t>Tool</a:t>
            </a:r>
            <a:r>
              <a:t>: </a:t>
            </a:r>
            <a:r>
              <a:rPr>
                <a:latin typeface="Courier"/>
              </a:rPr>
              <a:t>clean_phylo_tree.sh</a:t>
            </a:r>
            <a:r>
              <a:t> utility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Challenge 3: Prophage Boundary Detection</a:t>
            </a:r>
          </a:p>
          <a:p>
            <a:pPr lvl="0"/>
            <a:r>
              <a:rPr b="1"/>
              <a:t>Problem</a:t>
            </a:r>
            <a:r>
              <a:t>: VIBRANT boundaries sometimes imprecise</a:t>
            </a:r>
          </a:p>
          <a:p>
            <a:pPr lvl="0"/>
            <a:r>
              <a:rPr b="1"/>
              <a:t>Solution</a:t>
            </a:r>
            <a:r>
              <a:t>: Manual curation of high-priority prophages</a:t>
            </a:r>
          </a:p>
          <a:p>
            <a:pPr lvl="0"/>
            <a:r>
              <a:rPr b="1"/>
              <a:t>Future</a:t>
            </a:r>
            <a:r>
              <a:t>: Integrate CheckV for quality assessment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Challenge 4: Cross-Species Comparison</a:t>
            </a:r>
          </a:p>
          <a:p>
            <a:pPr lvl="0"/>
            <a:r>
              <a:rPr b="1"/>
              <a:t>Problem</a:t>
            </a:r>
            <a:r>
              <a:t>: Different genome sizes complicate comparisons</a:t>
            </a:r>
          </a:p>
          <a:p>
            <a:pPr lvl="0"/>
            <a:r>
              <a:rPr b="1"/>
              <a:t>Solution</a:t>
            </a:r>
            <a:r>
              <a:t>: Normalize by genome length, use per-Mb rates</a:t>
            </a:r>
          </a:p>
          <a:p>
            <a:pPr lvl="0"/>
            <a:r>
              <a:rPr b="1"/>
              <a:t>Improvement</a:t>
            </a:r>
            <a:r>
              <a:t>: Statistical testing for rate differences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23: Quality Control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Sample-Level Filters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Read QC</a:t>
            </a:r>
            <a:r>
              <a:t>: &gt;20M reads, &gt;Q30 ✅ </a:t>
            </a:r>
            <a:r>
              <a:rPr b="1"/>
              <a:t>Assembly</a:t>
            </a:r>
            <a:r>
              <a:t>: Genome size 80-120% of expected ✅ </a:t>
            </a:r>
            <a:r>
              <a:rPr b="1"/>
              <a:t>BUSCO</a:t>
            </a:r>
            <a:r>
              <a:t>: &gt;90% complete ✅ </a:t>
            </a:r>
            <a:r>
              <a:rPr b="1"/>
              <a:t>Contamination</a:t>
            </a:r>
            <a:r>
              <a:t>: &lt;5% non-target DNA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Analysis-Level Validation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AMR concordance</a:t>
            </a:r>
            <a:r>
              <a:t>: AMRFinder vs ABRICATE &gt;90% agreement ✅ </a:t>
            </a:r>
            <a:r>
              <a:rPr b="1"/>
              <a:t>Prophage validation</a:t>
            </a:r>
            <a:r>
              <a:t>: Manual check of random subset ✅ </a:t>
            </a:r>
            <a:r>
              <a:rPr b="1"/>
              <a:t>Tree robustness</a:t>
            </a:r>
            <a:r>
              <a:t>: Bootstrap support, alternative methods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Data Integrity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Metadata tracking</a:t>
            </a:r>
            <a:r>
              <a:t>: Full provenance for every sample ✅ </a:t>
            </a:r>
            <a:r>
              <a:rPr b="1"/>
              <a:t>Reproducibility</a:t>
            </a:r>
            <a:r>
              <a:t>: Nextflow caching, container versions documented ✅ </a:t>
            </a:r>
            <a:r>
              <a:rPr b="1"/>
              <a:t>Version control</a:t>
            </a:r>
            <a:r>
              <a:t>: All scripts in Git, tagged releases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/>
          <a:p>
            <a:pPr marL="0" lvl="0" indent="0">
              <a:buNone/>
            </a:pPr>
            <a:r>
              <a:t>Slide 24: Comparison to Existing Tools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Similar Pipelines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Prophage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Phylogeny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COMPASS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New, needs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Bactopia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prophage-AMR linking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nf-core/bacass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General assembly QC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PHAGEterm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Prophage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Web-only, no 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COMPASS Advantages</a:t>
            </a:r>
          </a:p>
          <a:p>
            <a:pPr lvl="0"/>
            <a:r>
              <a:rPr b="1"/>
              <a:t>Integrated prophage-AMR analysis</a:t>
            </a:r>
            <a:r>
              <a:t> (unique)</a:t>
            </a:r>
          </a:p>
          <a:p>
            <a:pPr lvl="0"/>
            <a:r>
              <a:t>Multi-organism support</a:t>
            </a:r>
          </a:p>
          <a:p>
            <a:pPr lvl="0"/>
            <a:r>
              <a:t>Scalable (local to HPC)</a:t>
            </a:r>
          </a:p>
          <a:p>
            <a:pPr lvl="0"/>
            <a:r>
              <a:t>Open-source, actively developed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25: Next Steps - Roadmap to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Phase 1: Stabilize &amp; Validate (Current - 3 months)</a:t>
            </a:r>
          </a:p>
          <a:p>
            <a:pPr marL="457200" lvl="0" indent="-457200">
              <a:buAutoNum type="arabicPeriod"/>
            </a:pPr>
            <a:r>
              <a:rPr b="1"/>
              <a:t>Solidify v1.3 stable version</a:t>
            </a:r>
          </a:p>
          <a:p>
            <a:pPr lvl="1"/>
            <a:r>
              <a:t>Complete E. coli Monthly 100 run (7,142 samples)</a:t>
            </a:r>
          </a:p>
          <a:p>
            <a:pPr lvl="1"/>
            <a:r>
              <a:t>Merge prophage-AMR integration from v1.4-dev</a:t>
            </a:r>
          </a:p>
          <a:p>
            <a:pPr lvl="1"/>
            <a:r>
              <a:t>Tag v1.3 release on GitHub</a:t>
            </a:r>
          </a:p>
          <a:p>
            <a:pPr marL="457200" lvl="0" indent="-457200">
              <a:buAutoNum type="arabicPeriod"/>
            </a:pPr>
            <a:r>
              <a:rPr b="1"/>
              <a:t>Run comprehensive datasets</a:t>
            </a:r>
          </a:p>
          <a:p>
            <a:pPr lvl="1"/>
            <a:r>
              <a:t>Re-run Kansas multi-organism with stable pipeline</a:t>
            </a:r>
          </a:p>
          <a:p>
            <a:pPr lvl="1"/>
            <a:r>
              <a:t>Validate consistency across all completed datasets</a:t>
            </a:r>
          </a:p>
          <a:p>
            <a:pPr lvl="1"/>
            <a:r>
              <a:t>Generate final summary statistics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Phase 2: Analyze &amp; Publish (3-6 months)</a:t>
            </a:r>
          </a:p>
          <a:p>
            <a:pPr marL="457200" lvl="0" indent="-457200">
              <a:buAutoNum type="arabicPeriod" startAt="3"/>
            </a:pPr>
            <a:r>
              <a:rPr b="1"/>
              <a:t>Deep analysis of results</a:t>
            </a:r>
          </a:p>
          <a:p>
            <a:pPr lvl="1"/>
            <a:r>
              <a:t>Complete phylogenetic analyses (Kansas + E. coli temporal)</a:t>
            </a:r>
          </a:p>
          <a:p>
            <a:pPr lvl="1"/>
            <a:r>
              <a:t>Statistical validation of prophage-AMR patterns</a:t>
            </a:r>
          </a:p>
          <a:p>
            <a:pPr lvl="1"/>
            <a:r>
              <a:t>Cross-species AMR transmission analysis</a:t>
            </a:r>
          </a:p>
          <a:p>
            <a:pPr marL="457200" lvl="0" indent="-457200">
              <a:buAutoNum type="arabicPeriod" startAt="3"/>
            </a:pPr>
            <a:r>
              <a:rPr b="1"/>
              <a:t>Publish pipeline &amp; findings</a:t>
            </a:r>
          </a:p>
          <a:p>
            <a:pPr lvl="1"/>
            <a:r>
              <a:rPr b="1"/>
              <a:t>Paper 1</a:t>
            </a:r>
            <a:r>
              <a:t>: COMPASS pipeline methods paper</a:t>
            </a:r>
          </a:p>
          <a:p>
            <a:pPr lvl="1"/>
            <a:r>
              <a:rPr b="1"/>
              <a:t>Paper 2</a:t>
            </a:r>
            <a:r>
              <a:t>: Kansas surveillance study (prophage-AMR findings)</a:t>
            </a:r>
          </a:p>
          <a:p>
            <a:pPr lvl="1"/>
            <a:r>
              <a:rPr b="1"/>
              <a:t>Announce</a:t>
            </a:r>
            <a:r>
              <a:t>: Biotech forum, Twitter/X, preprint servers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Phase 3: Expand &amp; Iterate (6+ months)</a:t>
            </a:r>
          </a:p>
          <a:p>
            <a:pPr marL="457200" lvl="0" indent="-457200">
              <a:buAutoNum type="arabicPeriod" startAt="5"/>
            </a:pPr>
            <a:r>
              <a:rPr b="1"/>
              <a:t>Continue data collection</a:t>
            </a:r>
          </a:p>
          <a:p>
            <a:pPr lvl="1"/>
            <a:r>
              <a:t>Expand to additional organisms (Listeria, Campylobacter deep dive)</a:t>
            </a:r>
          </a:p>
          <a:p>
            <a:pPr lvl="1"/>
            <a:r>
              <a:t>Geographic expansion beyond Kansas</a:t>
            </a:r>
          </a:p>
          <a:p>
            <a:pPr marL="457200" lvl="0" indent="-457200">
              <a:buAutoNum type="arabicPeriod" startAt="5"/>
            </a:pPr>
            <a:r>
              <a:rPr b="1"/>
              <a:t>COMPASS v2.0 development</a:t>
            </a:r>
          </a:p>
          <a:p>
            <a:pPr lvl="1"/>
            <a:r>
              <a:t>Add analysis modules: CheckV, plasmid-prophage integration</a:t>
            </a:r>
          </a:p>
          <a:p>
            <a:pPr lvl="1"/>
            <a:r>
              <a:t>Expand capabilities: long-read support, metagenomic mode</a:t>
            </a:r>
          </a:p>
          <a:p>
            <a:pPr lvl="1"/>
            <a:r>
              <a:t>Enhanced reporting and visualization tools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Slide 26: Collaboration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Data Contributions</a:t>
            </a:r>
          </a:p>
          <a:p>
            <a:pPr lvl="0"/>
            <a:r>
              <a:t>Share your WGS data for inclusion in analyses</a:t>
            </a:r>
          </a:p>
          <a:p>
            <a:pPr lvl="0"/>
            <a:r>
              <a:t>Multi-lab surveillance networks</a:t>
            </a:r>
          </a:p>
          <a:p>
            <a:pPr lvl="0"/>
            <a:r>
              <a:t>Geographic expansion (beyond Kansas)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Method Development</a:t>
            </a:r>
          </a:p>
          <a:p>
            <a:pPr lvl="0"/>
            <a:r>
              <a:t>Alternative prophage predictors (PHASTER, PhiSpy)</a:t>
            </a:r>
          </a:p>
          <a:p>
            <a:pPr lvl="0"/>
            <a:r>
              <a:t>Advanced phylogenetic methods (BEAST, IQ-TREE)</a:t>
            </a:r>
          </a:p>
          <a:p>
            <a:pPr lvl="0"/>
            <a:r>
              <a:t>Statistical modeling of AMR spread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Applications</a:t>
            </a:r>
          </a:p>
          <a:p>
            <a:pPr lvl="0"/>
            <a:r>
              <a:rPr b="1"/>
              <a:t>Diagnostic labs</a:t>
            </a:r>
            <a:r>
              <a:t>: Routine prophage-AMR screening</a:t>
            </a:r>
          </a:p>
          <a:p>
            <a:pPr lvl="0"/>
            <a:r>
              <a:rPr b="1"/>
              <a:t>Public health</a:t>
            </a:r>
            <a:r>
              <a:t>: Early warning systems</a:t>
            </a:r>
          </a:p>
          <a:p>
            <a:pPr lvl="0"/>
            <a:r>
              <a:rPr b="1"/>
              <a:t>Research labs</a:t>
            </a:r>
            <a:r>
              <a:t>: Mechanism studies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Open Science</a:t>
            </a:r>
          </a:p>
          <a:p>
            <a:pPr lvl="0"/>
            <a:r>
              <a:rPr b="1"/>
              <a:t>GitHub</a:t>
            </a:r>
            <a:r>
              <a:t>: All code available</a:t>
            </a:r>
          </a:p>
          <a:p>
            <a:pPr lvl="0"/>
            <a:r>
              <a:rPr b="1"/>
              <a:t>Zenodo</a:t>
            </a:r>
            <a:r>
              <a:t>: Data archiving</a:t>
            </a:r>
          </a:p>
          <a:p>
            <a:pPr lvl="0"/>
            <a:r>
              <a:rPr b="1"/>
              <a:t>Publications</a:t>
            </a:r>
            <a:r>
              <a:t>: Preprints on bioRxiv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27: Summary &amp; Key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Technical Achievements</a:t>
            </a:r>
          </a:p>
          <a:p>
            <a:pPr marL="457200" lvl="0" indent="-457200">
              <a:buAutoNum type="arabicPeriod"/>
            </a:pPr>
            <a:r>
              <a:t>✅ </a:t>
            </a:r>
            <a:r>
              <a:rPr b="1"/>
              <a:t>COMPASS pipeline</a:t>
            </a:r>
            <a:r>
              <a:t>: Automated, scalable, reproducible</a:t>
            </a:r>
          </a:p>
          <a:p>
            <a:pPr marL="457200" lvl="0" indent="-457200">
              <a:buAutoNum type="arabicPeriod"/>
            </a:pPr>
            <a:r>
              <a:t>✅ </a:t>
            </a:r>
            <a:r>
              <a:rPr b="1"/>
              <a:t>Dual AMR detection</a:t>
            </a:r>
            <a:r>
              <a:t>: AMRFinder + ABRICATE validation</a:t>
            </a:r>
          </a:p>
          <a:p>
            <a:pPr marL="457200" lvl="0" indent="-457200">
              <a:buAutoNum type="arabicPeriod"/>
            </a:pPr>
            <a:r>
              <a:t>✅ </a:t>
            </a:r>
            <a:r>
              <a:rPr b="1"/>
              <a:t>Prophage-AMR integration</a:t>
            </a:r>
            <a:r>
              <a:t>: Novel linkage analysis</a:t>
            </a:r>
          </a:p>
          <a:p>
            <a:pPr marL="457200" lvl="0" indent="-457200">
              <a:buAutoNum type="arabicPeriod"/>
            </a:pPr>
            <a:r>
              <a:t>✅ </a:t>
            </a:r>
            <a:r>
              <a:rPr b="1"/>
              <a:t>Phylogenetic framework</a:t>
            </a:r>
            <a:r>
              <a:t>: Subsampling for tractability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Biological Insights</a:t>
            </a:r>
          </a:p>
          <a:p>
            <a:pPr marL="457200" lvl="0" indent="-457200">
              <a:buAutoNum type="arabicPeriod"/>
            </a:pPr>
            <a:r>
              <a:t>🔬 </a:t>
            </a:r>
            <a:r>
              <a:rPr b="1"/>
              <a:t>396 AMR genes</a:t>
            </a:r>
            <a:r>
              <a:t> in E. coli prophages (2021-2024)</a:t>
            </a:r>
          </a:p>
          <a:p>
            <a:pPr marL="457200" lvl="0" indent="-457200">
              <a:buAutoNum type="arabicPeriod"/>
            </a:pPr>
            <a:r>
              <a:t>🔬 </a:t>
            </a:r>
            <a:r>
              <a:rPr b="1"/>
              <a:t>21 AMR genes</a:t>
            </a:r>
            <a:r>
              <a:t> in Kansas multi-organism prophages</a:t>
            </a:r>
          </a:p>
          <a:p>
            <a:pPr marL="457200" lvl="0" indent="-457200">
              <a:buAutoNum type="arabicPeriod"/>
            </a:pPr>
            <a:r>
              <a:t>🔬 </a:t>
            </a:r>
            <a:r>
              <a:rPr b="1"/>
              <a:t>dfrA51 dominance</a:t>
            </a:r>
            <a:r>
              <a:t> across species boundaries</a:t>
            </a:r>
          </a:p>
          <a:p>
            <a:pPr marL="457200" lvl="0" indent="-457200">
              <a:buAutoNum type="arabicPeriod"/>
            </a:pPr>
            <a:r>
              <a:t>🔬 </a:t>
            </a:r>
            <a:r>
              <a:rPr b="1"/>
              <a:t>Stable lineages</a:t>
            </a:r>
            <a:r>
              <a:t> persist over multiple years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Impact</a:t>
            </a:r>
          </a:p>
          <a:p>
            <a:pPr lvl="0"/>
            <a:r>
              <a:rPr b="1"/>
              <a:t>Surveillance enhancement</a:t>
            </a:r>
            <a:r>
              <a:t>: Detects hidden AMR mechanisms</a:t>
            </a:r>
          </a:p>
          <a:p>
            <a:pPr lvl="0"/>
            <a:r>
              <a:rPr b="1"/>
              <a:t>Public health</a:t>
            </a:r>
            <a:r>
              <a:t>: One Health implications</a:t>
            </a:r>
          </a:p>
          <a:p>
            <a:pPr lvl="0"/>
            <a:r>
              <a:rPr b="1"/>
              <a:t>Research tool</a:t>
            </a:r>
            <a:r>
              <a:t>: Open-source for community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28: Discussion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Questions for the Group</a:t>
            </a:r>
          </a:p>
          <a:p>
            <a:pPr marL="457200" lvl="0" indent="-457200">
              <a:buAutoNum type="arabicPeriod"/>
            </a:pPr>
            <a:r>
              <a:rPr b="1"/>
              <a:t>Validation strategy</a:t>
            </a:r>
            <a:r>
              <a:t>: How to validate prophage-AMR associations experimentally?</a:t>
            </a:r>
          </a:p>
          <a:p>
            <a:pPr marL="457200" lvl="0" indent="-457200">
              <a:buAutoNum type="arabicPeriod"/>
            </a:pPr>
            <a:r>
              <a:rPr b="1"/>
              <a:t>Clinical relevance</a:t>
            </a:r>
            <a:r>
              <a:t>: Which AMR-prophages are highest priority?</a:t>
            </a:r>
          </a:p>
          <a:p>
            <a:pPr marL="457200" lvl="0" indent="-457200">
              <a:buAutoNum type="arabicPeriod"/>
            </a:pPr>
            <a:r>
              <a:rPr b="1"/>
              <a:t>Collaborations</a:t>
            </a:r>
            <a:r>
              <a:t>: Interested in testing COMPASS on your data?</a:t>
            </a:r>
          </a:p>
          <a:p>
            <a:pPr marL="457200" lvl="0" indent="-457200">
              <a:buAutoNum type="arabicPeriod"/>
            </a:pPr>
            <a:r>
              <a:rPr b="1"/>
              <a:t>Method improvements</a:t>
            </a:r>
            <a:r>
              <a:t>: Suggestions for pipeline enhancements?</a:t>
            </a:r>
          </a:p>
          <a:p>
            <a:pPr marL="457200" lvl="0" indent="-457200">
              <a:buAutoNum type="arabicPeriod"/>
            </a:pPr>
            <a:r>
              <a:rPr b="1"/>
              <a:t>Publication strategy</a:t>
            </a:r>
            <a:r>
              <a:t>: Target journal(s)?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Open Issues</a:t>
            </a:r>
          </a:p>
          <a:p>
            <a:pPr lvl="0"/>
            <a:r>
              <a:t>Prophage boundary precision</a:t>
            </a:r>
          </a:p>
          <a:p>
            <a:pPr lvl="0"/>
            <a:r>
              <a:t>Cross-species transmission mechanisms</a:t>
            </a:r>
          </a:p>
          <a:p>
            <a:pPr lvl="0"/>
            <a:r>
              <a:t>Geographic vs temporal factors</a:t>
            </a:r>
          </a:p>
          <a:p>
            <a:pPr lvl="0"/>
            <a:r>
              <a:t>Plasmid vs prophage AMR (relative contributions)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29: Resources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Code &amp; Data</a:t>
            </a:r>
          </a:p>
          <a:p>
            <a:pPr lvl="0"/>
            <a:r>
              <a:rPr b="1"/>
              <a:t>GitHub</a:t>
            </a:r>
            <a:r>
              <a:t>: </a:t>
            </a:r>
            <a:r>
              <a:rPr>
                <a:hlinkClick r:id="rId2"/>
              </a:rPr>
              <a:t>https://github.com/tdoerks/COMPASS-pipeline</a:t>
            </a:r>
          </a:p>
          <a:p>
            <a:pPr lvl="0"/>
            <a:r>
              <a:rPr b="1"/>
              <a:t>Branches</a:t>
            </a:r>
            <a:r>
              <a:t>:</a:t>
            </a:r>
          </a:p>
          <a:p>
            <a:pPr lvl="1"/>
            <a:r>
              <a:rPr>
                <a:latin typeface="Courier"/>
              </a:rPr>
              <a:t>main</a:t>
            </a:r>
            <a:r>
              <a:t> - Stable releases</a:t>
            </a:r>
          </a:p>
          <a:p>
            <a:pPr lvl="1"/>
            <a:r>
              <a:rPr>
                <a:latin typeface="Courier"/>
              </a:rPr>
              <a:t>v1.3-dev</a:t>
            </a:r>
            <a:r>
              <a:t> - Current development</a:t>
            </a:r>
          </a:p>
          <a:p>
            <a:pPr lvl="1"/>
            <a:r>
              <a:rPr>
                <a:latin typeface="Courier"/>
              </a:rPr>
              <a:t>presentation</a:t>
            </a:r>
            <a:r>
              <a:t> - Presentation materials</a:t>
            </a:r>
          </a:p>
          <a:p>
            <a:pPr lvl="0"/>
            <a:r>
              <a:rPr b="1"/>
              <a:t>Data</a:t>
            </a:r>
            <a:r>
              <a:t>: Archived results on Beocat </a:t>
            </a:r>
            <a:r>
              <a:rPr>
                <a:latin typeface="Courier"/>
              </a:rPr>
              <a:t>/bulk/tylerdoe/archives/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Publications (Planned)</a:t>
            </a:r>
          </a:p>
          <a:p>
            <a:pPr marL="457200" lvl="0" indent="-457200">
              <a:buAutoNum type="arabicPeriod"/>
            </a:pPr>
            <a:r>
              <a:t>COMPASS pipeline paper (methods)</a:t>
            </a:r>
          </a:p>
          <a:p>
            <a:pPr marL="457200" lvl="0" indent="-457200">
              <a:buAutoNum type="arabicPeriod"/>
            </a:pPr>
            <a:r>
              <a:t>Kansas surveillance study (application)</a:t>
            </a:r>
          </a:p>
          <a:p>
            <a:pPr marL="457200" lvl="0" indent="-457200">
              <a:buAutoNum type="arabicPeriod"/>
            </a:pPr>
            <a:r>
              <a:t>E. coli temporal analysis (longitudinal)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Contact</a:t>
            </a:r>
          </a:p>
          <a:p>
            <a:pPr lvl="0"/>
            <a:r>
              <a:rPr b="1"/>
              <a:t>Email</a:t>
            </a:r>
            <a:r>
              <a:t>: </a:t>
            </a:r>
            <a:r>
              <a:rPr>
                <a:hlinkClick r:id="rId3"/>
              </a:rPr>
              <a:t>tdoerks@vet.k-state.edu</a:t>
            </a:r>
          </a:p>
          <a:p>
            <a:pPr lvl="0"/>
            <a:r>
              <a:rPr b="1"/>
              <a:t>GitHub</a:t>
            </a:r>
            <a:r>
              <a:t>: </a:t>
            </a:r>
            <a:r>
              <a:rPr>
                <a:hlinkClick r:id="rId2"/>
              </a:rPr>
              <a:t>https://github.com/tdoerks/COMPASS-pipeline</a:t>
            </a:r>
          </a:p>
          <a:p>
            <a:pPr lvl="0"/>
            <a:r>
              <a:rPr b="1"/>
              <a:t>Lab</a:t>
            </a:r>
            <a:r>
              <a:t>: KSU College of Veterinary Medicine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Acknowledgments</a:t>
            </a:r>
          </a:p>
          <a:p>
            <a:pPr lvl="0"/>
            <a:r>
              <a:t>[Advisor, lab members, collaborators]</a:t>
            </a:r>
          </a:p>
          <a:p>
            <a:pPr lvl="0"/>
            <a:r>
              <a:t>[Funding sources]</a:t>
            </a:r>
          </a:p>
          <a:p>
            <a:pPr lvl="0"/>
            <a:r>
              <a:t>KSU Beocat HPC facility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Conversion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 Lab Meeting:</a:t>
            </a:r>
          </a:p>
          <a:p>
            <a:pPr lvl="0"/>
            <a:r>
              <a:t>Plan for ~45-50 minute presentation</a:t>
            </a:r>
          </a:p>
          <a:p>
            <a:pPr lvl="0"/>
            <a:r>
              <a:t>Leave 10-15 minutes for discussion</a:t>
            </a:r>
          </a:p>
          <a:p>
            <a:pPr lvl="0"/>
            <a:r>
              <a:t>Expect detailed technical questions</a:t>
            </a:r>
          </a:p>
          <a:p>
            <a:pPr lvl="0"/>
            <a:r>
              <a:t>Have raw data/code ready to show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Additional Materials to Prepare:</a:t>
            </a:r>
          </a:p>
          <a:p>
            <a:pPr lvl="0"/>
            <a:r>
              <a:t>Live demo of Data Explorer</a:t>
            </a:r>
          </a:p>
          <a:p>
            <a:pPr lvl="0"/>
            <a:r>
              <a:t>Code snippets from key scripts</a:t>
            </a:r>
          </a:p>
          <a:p>
            <a:pPr lvl="0"/>
            <a:r>
              <a:t>Raw phylogenetic tree files</a:t>
            </a:r>
          </a:p>
          <a:p>
            <a:pPr lvl="0"/>
            <a:r>
              <a:t>Statistical test results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Backup Slides (if needed):</a:t>
            </a:r>
          </a:p>
          <a:p>
            <a:pPr lvl="0"/>
            <a:r>
              <a:t>Detailed SLURM job scripts</a:t>
            </a:r>
          </a:p>
          <a:p>
            <a:pPr lvl="0"/>
            <a:r>
              <a:t>Error handling strategies</a:t>
            </a:r>
          </a:p>
          <a:p>
            <a:pPr lvl="0"/>
            <a:r>
              <a:t>Alternative analysis approaches tested</a:t>
            </a:r>
          </a:p>
          <a:p>
            <a:pPr lvl="0"/>
            <a:r>
              <a:t>Failed experiments and lessons learned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4153</Words>
  <Application>Microsoft Office PowerPoint</Application>
  <PresentationFormat>Widescreen</PresentationFormat>
  <Paragraphs>608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COMPASS Pipeline - Technical Architecture</vt:lpstr>
      <vt:lpstr>Pipeline Diagram (Technical Version)</vt:lpstr>
      <vt:lpstr>Data Acquisition &amp; Preprocessing</vt:lpstr>
      <vt:lpstr>Genome Assembly Pipeline</vt:lpstr>
      <vt:lpstr>AMR Detection - Dual Strategy</vt:lpstr>
      <vt:lpstr>Prophage Analysis - VIBRANT</vt:lpstr>
      <vt:lpstr>Prophage-AMR Integration Analysis</vt:lpstr>
      <vt:lpstr>Typing &amp; Plasmid Analysis</vt:lpstr>
      <vt:lpstr>MultiQC Aggregation</vt:lpstr>
      <vt:lpstr>PowerPoint Presentation</vt:lpstr>
      <vt:lpstr>COMPASS Datasets - Completed Analyses</vt:lpstr>
      <vt:lpstr>COMPASS Datasets - In Progress &amp; Grand Total</vt:lpstr>
      <vt:lpstr>E. coli Temporal Study - Sampling Strategy</vt:lpstr>
      <vt:lpstr>Phylogenetic Analysis - Technical Details</vt:lpstr>
      <vt:lpstr>Slide 15: Phylogenetic Methods</vt:lpstr>
      <vt:lpstr>Slide 16: Statistical Validation</vt:lpstr>
      <vt:lpstr>Slide 17: Kansas Results - Detailed Breakdown</vt:lpstr>
      <vt:lpstr>PowerPoint Presentation</vt:lpstr>
      <vt:lpstr>Slide 18: E. coli Results - 396 AMR Genes Detailed</vt:lpstr>
      <vt:lpstr>PowerPoint Presentation</vt:lpstr>
      <vt:lpstr>Slide 19: Phylogenetic Insights - AMR-Prophage Lineages</vt:lpstr>
      <vt:lpstr>Slide 20: All-Prophage Phylogeny Comparison</vt:lpstr>
      <vt:lpstr>Slide 21A: Kansas All-Prophage Phylogenetic Tree</vt:lpstr>
      <vt:lpstr>Slide 21B: E. coli AMR-Prophage Temporal Tree</vt:lpstr>
      <vt:lpstr>Slide 22A: Tree Files Available on GitHub</vt:lpstr>
      <vt:lpstr>Slide 22B: iTOL Live Demo - Upload &amp; Annotate</vt:lpstr>
      <vt:lpstr>Slide 22C: iTOL Exploration &amp; Export</vt:lpstr>
      <vt:lpstr>Slide 23: Computational Performance</vt:lpstr>
      <vt:lpstr>PowerPoint Presentation</vt:lpstr>
      <vt:lpstr>Slide 22: Challenges Encountered &amp; Solutions</vt:lpstr>
      <vt:lpstr>Slide 23: Quality Control Metrics</vt:lpstr>
      <vt:lpstr>Slide 24: Comparison to Existing Tools</vt:lpstr>
      <vt:lpstr>PowerPoint Presentation</vt:lpstr>
      <vt:lpstr>Slide 25: Next Steps - Roadmap to Publication</vt:lpstr>
      <vt:lpstr>Slide 26: Collaboration Opportunities</vt:lpstr>
      <vt:lpstr>Slide 27: Summary &amp; Key Messages</vt:lpstr>
      <vt:lpstr>Slide 28: Discussion Points</vt:lpstr>
      <vt:lpstr>Slide 29: Resources &amp; Contact</vt:lpstr>
      <vt:lpstr>Conversion Notes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7200</TotalTime>
  <Words>24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 Pipeline: Technical Deep Dive</dc:title>
  <dc:creator>Tyler Doerks</dc:creator>
  <cp:keywords/>
  <cp:lastModifiedBy>Tyler Doerksen</cp:lastModifiedBy>
  <cp:revision>1</cp:revision>
  <dcterms:created xsi:type="dcterms:W3CDTF">2026-02-04T04:16:58Z</dcterms:created>
  <dcterms:modified xsi:type="dcterms:W3CDTF">2026-02-04T16:56:35Z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2026-02-03</vt:lpwstr>
  </property>
  <property fmtid="{D5CDD505-2E9C-101B-9397-08002B2CF9AE}" pid="3" name="institute">
    <vt:lpwstr>Kansas State University College of Veterinary Medicine - Diagnostic Medicine/Pathobiology</vt:lpwstr>
  </property>
  <property fmtid="{D5CDD505-2E9C-101B-9397-08002B2CF9AE}" pid="4" name="output">
    <vt:lpwstr/>
  </property>
  <property fmtid="{D5CDD505-2E9C-101B-9397-08002B2CF9AE}" pid="5" name="subtitle">
    <vt:lpwstr>COmprehensive Mobile element &amp; Pathogen ASsessment Suite</vt:lpwstr>
  </property>
</Properties>
</file>